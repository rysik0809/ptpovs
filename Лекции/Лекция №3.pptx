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67" r:id="rId3"/>
    <p:sldId id="269" r:id="rId4"/>
    <p:sldId id="268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8" r:id="rId13"/>
    <p:sldId id="279" r:id="rId14"/>
    <p:sldId id="277" r:id="rId15"/>
    <p:sldId id="280" r:id="rId16"/>
    <p:sldId id="281" r:id="rId17"/>
    <p:sldId id="282" r:id="rId18"/>
    <p:sldId id="284" r:id="rId19"/>
    <p:sldId id="285" r:id="rId20"/>
    <p:sldId id="287" r:id="rId21"/>
    <p:sldId id="288" r:id="rId22"/>
    <p:sldId id="286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9" r:id="rId33"/>
    <p:sldId id="300" r:id="rId34"/>
    <p:sldId id="298" r:id="rId35"/>
    <p:sldId id="301" r:id="rId36"/>
    <p:sldId id="302" r:id="rId37"/>
    <p:sldId id="306" r:id="rId38"/>
    <p:sldId id="303" r:id="rId39"/>
    <p:sldId id="304" r:id="rId40"/>
    <p:sldId id="305" r:id="rId41"/>
    <p:sldId id="283" r:id="rId42"/>
    <p:sldId id="307" r:id="rId43"/>
    <p:sldId id="313" r:id="rId44"/>
    <p:sldId id="314" r:id="rId45"/>
    <p:sldId id="315" r:id="rId46"/>
    <p:sldId id="312" r:id="rId47"/>
    <p:sldId id="311" r:id="rId48"/>
    <p:sldId id="310" r:id="rId49"/>
    <p:sldId id="309" r:id="rId5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025" autoAdjust="0"/>
  </p:normalViewPr>
  <p:slideViewPr>
    <p:cSldViewPr snapToGrid="0">
      <p:cViewPr varScale="1">
        <p:scale>
          <a:sx n="48" d="100"/>
          <a:sy n="48" d="100"/>
        </p:scale>
        <p:origin x="67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D7595-FCF4-4099-BD8C-13459FCC7DA5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82645-4708-44BD-8BD9-71C144DEF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55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82645-4708-44BD-8BD9-71C144DEFD9D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085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E67B7-8B86-328F-B7EC-B1BF2A576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9CDB87-CA93-4BE7-35CF-A0C68EDF3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0E2DA8-8EAF-33A0-3065-C716BF3E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01D051-4978-EF7F-8C8A-3F244BC2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B9766E-6D6E-8A4C-658A-B4685CE0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02B64-7A03-AC61-9E5C-F4F4D956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4FDECA-25F9-183C-D3B7-DD5F7B11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809E4-C3AA-7FFF-66D9-82958219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5A159-D873-5BF8-F8CB-3C05B127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FD8BDA-8665-8883-9E4D-14AD25E2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22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31642-8603-DDAE-C5AF-BB3C0685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25BA09-5383-933C-E291-BDB4B7102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069EBF-C0B5-9EB4-DCC1-9E8BACFF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32AC16-93B3-1460-E3C7-65580E1A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152A2-48DC-5799-2499-17FE61B4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44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75EDD-FB9F-F045-EE95-10EF9D2F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C7BC94-00BF-2A5B-BF4D-C38882A64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5A367E-D4A4-00C0-F75B-8C02E2A06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43EE95-E43A-EB58-34A0-A9DDECDD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1CE8F9-1034-21B2-38EF-2A8B5C4D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EE8E6C-9A75-8F08-58CE-EB938E29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59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429E8-D3A7-B63A-2739-1D5705FF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6582CD-AB3F-25A9-B795-21CDC760E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87405F-9984-D933-744C-463E03AB0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50840FB-509F-F934-5C06-61A5B0852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BB4397-1D85-C4FA-132E-1D2C7A393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81F2429-F720-BD98-422E-081D31DB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8D6B9B-B5DF-8947-4A97-B1959BB9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E5F275-C6C3-C7A7-9B49-AB9241D5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47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78BE3-96E3-542D-B866-54D4D5BD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2AB0066-C93A-CE44-C9C9-8492509E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86183F-4A06-0A6D-2439-9920BE59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A19C14-09EE-8DA0-35EE-10747B9F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11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B0E34C-DF03-FB68-EAB6-2F9E41209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3423B85-5262-79FE-1774-FCA052A9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B42707-0180-59A5-67BB-16599978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11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69A8C-27E6-130A-0F34-2A6C9620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B8BD66-0277-8F15-78C4-39A5EE21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3E5280-B2C5-EB27-34F2-3D18F3D08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40CD3B-D516-8EF6-49C8-81E522992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39D0E4-C405-ED24-5E05-503B0046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A4DDD1-B00C-597F-82F6-F2A80929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59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E39A1-0DED-CE4B-5B62-BD19F0BCC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54D6F2-42E9-3FEA-C6A7-740C51D9D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A8E58D-4DAC-4FC8-5B80-7961711AC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0A013B-DD5C-737D-F0AB-7C157241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4E4AEB-1CB0-2CFD-BC02-DFD9847A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0ABAB9-35CC-F3B8-B086-C857480E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27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0FEB8-DA1D-02DC-B5C2-755D5259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08DD26-2A62-77FD-1C83-3B3882EAC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4A89C9-6D79-3B2C-6B15-AEF4507A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70559-F67E-CA20-365A-2B0DDAFB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736514-470B-0377-D0F6-5D31A6DE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55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93FE35-8AF2-DD78-796E-56EC68636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B660D9-45FD-7890-3D0F-E47BD8B39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5E59F6-A2CA-A130-A170-4BCEBFD8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739BC6-BAA9-14F7-E5F0-45F92CF9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443F45-277D-2C12-D898-2C9E77A3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99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8F0C5-9240-24BB-AB2C-20ADF63F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74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A6985C-F8DC-F486-A49E-0B2B65441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91F3EF-F30E-6D88-967B-040F961D8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9879BD-3AFC-8225-C352-7D9D01B1A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E1DDE2-73F3-A77C-24A3-116C7FD46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EFAF48-7A20-BDED-6DB6-D8E23EB4BEE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053" y="24422"/>
            <a:ext cx="2322947" cy="20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6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6D10E-B4D8-B973-A146-B23613FFF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Итераторы и регулярные выражения в языке С++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AF7337-EB00-C20F-E6CF-D664DFEC72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470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529B1-AFB2-2D51-EDDB-77AA852E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39F528-206B-8049-9A01-464623CB4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Реализация паттерна – </a:t>
            </a:r>
            <a:r>
              <a:rPr lang="en-US" dirty="0"/>
              <a:t>Iterator</a:t>
            </a:r>
          </a:p>
          <a:p>
            <a:pPr algn="just"/>
            <a:r>
              <a:rPr lang="en-US" dirty="0"/>
              <a:t>Iterator – </a:t>
            </a:r>
            <a:r>
              <a:rPr lang="ru-RU" dirty="0"/>
              <a:t>предоставляет способ последовательного доступа к элементам контейнера независимо от его внутреннего устройства</a:t>
            </a:r>
          </a:p>
          <a:p>
            <a:pPr algn="just"/>
            <a:endParaRPr lang="ru-RU" dirty="0"/>
          </a:p>
          <a:p>
            <a:pPr algn="just"/>
            <a:r>
              <a:rPr lang="ru-RU" i="0" dirty="0">
                <a:solidFill>
                  <a:srgbClr val="FF0000"/>
                </a:solidFill>
                <a:effectLst/>
                <a:latin typeface="-apple-system"/>
              </a:rPr>
              <a:t>Контейнеры</a:t>
            </a:r>
            <a:r>
              <a:rPr lang="ru-RU" b="1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ru-RU" b="1" i="0" dirty="0" err="1">
                <a:effectLst/>
                <a:latin typeface="-apple-system"/>
              </a:rPr>
              <a:t>std</a:t>
            </a:r>
            <a:r>
              <a:rPr lang="ru-RU" b="1" i="0" dirty="0">
                <a:effectLst/>
                <a:latin typeface="-apple-system"/>
              </a:rPr>
              <a:t>::</a:t>
            </a:r>
            <a:r>
              <a:rPr lang="ru-RU" b="1" i="0" dirty="0" err="1">
                <a:effectLst/>
                <a:latin typeface="-apple-system"/>
              </a:rPr>
              <a:t>stack</a:t>
            </a:r>
            <a:r>
              <a:rPr lang="ru-RU" b="0" i="0" dirty="0">
                <a:effectLst/>
                <a:latin typeface="-apple-system"/>
              </a:rPr>
              <a:t>, </a:t>
            </a:r>
            <a:r>
              <a:rPr lang="ru-RU" b="1" i="0" dirty="0" err="1">
                <a:effectLst/>
                <a:latin typeface="-apple-system"/>
              </a:rPr>
              <a:t>std</a:t>
            </a:r>
            <a:r>
              <a:rPr lang="ru-RU" b="1" i="0" dirty="0">
                <a:effectLst/>
                <a:latin typeface="-apple-system"/>
              </a:rPr>
              <a:t>::</a:t>
            </a:r>
            <a:r>
              <a:rPr lang="ru-RU" b="1" i="0" dirty="0" err="1">
                <a:effectLst/>
                <a:latin typeface="-apple-system"/>
              </a:rPr>
              <a:t>queue</a:t>
            </a:r>
            <a:r>
              <a:rPr lang="ru-RU" b="0" i="0" dirty="0">
                <a:effectLst/>
                <a:latin typeface="-apple-system"/>
              </a:rPr>
              <a:t> и </a:t>
            </a:r>
            <a:r>
              <a:rPr lang="ru-RU" b="1" i="0" dirty="0" err="1">
                <a:effectLst/>
                <a:latin typeface="-apple-system"/>
              </a:rPr>
              <a:t>std</a:t>
            </a:r>
            <a:r>
              <a:rPr lang="ru-RU" b="1" i="0" dirty="0">
                <a:effectLst/>
                <a:latin typeface="-apple-system"/>
              </a:rPr>
              <a:t>::</a:t>
            </a:r>
            <a:r>
              <a:rPr lang="ru-RU" b="1" i="0" dirty="0" err="1">
                <a:effectLst/>
                <a:latin typeface="-apple-system"/>
              </a:rPr>
              <a:t>priority_queue</a:t>
            </a:r>
            <a:r>
              <a:rPr lang="ru-RU" b="0" i="0" dirty="0">
                <a:effectLst/>
                <a:latin typeface="-apple-system"/>
              </a:rPr>
              <a:t> </a:t>
            </a:r>
            <a:r>
              <a:rPr lang="ru-RU" b="0" i="0" dirty="0">
                <a:solidFill>
                  <a:srgbClr val="FF0000"/>
                </a:solidFill>
                <a:effectLst/>
                <a:latin typeface="-apple-system"/>
              </a:rPr>
              <a:t>итераторов не имеют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433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2F41D-D985-42EC-B5F2-200E32AC4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итераторами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5CBEEB-37C7-94EA-70DD-7E5B25376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/>
              <a:t>*</a:t>
            </a:r>
            <a:r>
              <a:rPr lang="ru-RU" sz="2400" b="1" dirty="0" err="1"/>
              <a:t>iter</a:t>
            </a:r>
            <a:r>
              <a:rPr lang="ru-RU" sz="2400" b="1" dirty="0"/>
              <a:t> </a:t>
            </a:r>
            <a:r>
              <a:rPr lang="ru-RU" sz="2400" dirty="0"/>
              <a:t>: получение элемента, на который указывает итератор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/>
              <a:t>++</a:t>
            </a:r>
            <a:r>
              <a:rPr lang="ru-RU" sz="2400" b="1" dirty="0" err="1"/>
              <a:t>iter</a:t>
            </a:r>
            <a:r>
              <a:rPr lang="ru-RU" sz="2400" b="1" dirty="0"/>
              <a:t> </a:t>
            </a:r>
            <a:r>
              <a:rPr lang="ru-RU" sz="2400" dirty="0"/>
              <a:t>: перемещение итератора вперед для обращения к следующему элементу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/>
              <a:t>--</a:t>
            </a:r>
            <a:r>
              <a:rPr lang="ru-RU" sz="2400" b="1" dirty="0" err="1"/>
              <a:t>iter</a:t>
            </a:r>
            <a:r>
              <a:rPr lang="ru-RU" sz="2400" b="1" dirty="0"/>
              <a:t> </a:t>
            </a:r>
            <a:r>
              <a:rPr lang="ru-RU" sz="2400" dirty="0"/>
              <a:t>: перемещение итератора назад для обращения к предыдущему элементу. Итераторы контейнера </a:t>
            </a:r>
            <a:r>
              <a:rPr lang="ru-RU" sz="2400" dirty="0" err="1"/>
              <a:t>forward_list</a:t>
            </a:r>
            <a:r>
              <a:rPr lang="ru-RU" sz="2400" dirty="0"/>
              <a:t> не поддерживают операцию декремента.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/>
              <a:t>iter1 == iter2 </a:t>
            </a:r>
            <a:r>
              <a:rPr lang="ru-RU" sz="2400" dirty="0"/>
              <a:t>: два итератора равны, если они указывают на один и тот же элемент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/>
              <a:t>iter1 != iter2 </a:t>
            </a:r>
            <a:r>
              <a:rPr lang="ru-RU" sz="2400" dirty="0"/>
              <a:t>: два итератора не равны, если они указывают на разные элементы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 err="1"/>
              <a:t>iter</a:t>
            </a:r>
            <a:r>
              <a:rPr lang="ru-RU" sz="2400" b="1" dirty="0"/>
              <a:t> + n</a:t>
            </a:r>
            <a:r>
              <a:rPr lang="ru-RU" sz="2400" dirty="0"/>
              <a:t> : возвращает итератор, который смещен от итератора </a:t>
            </a:r>
            <a:r>
              <a:rPr lang="ru-RU" sz="2400" dirty="0" err="1"/>
              <a:t>iter</a:t>
            </a:r>
            <a:r>
              <a:rPr lang="ru-RU" sz="2400" dirty="0"/>
              <a:t> на n позиций вперед</a:t>
            </a:r>
          </a:p>
        </p:txBody>
      </p:sp>
    </p:spTree>
    <p:extLst>
      <p:ext uri="{BB962C8B-B14F-4D97-AF65-F5344CB8AC3E}">
        <p14:creationId xmlns:p14="http://schemas.microsoft.com/office/powerpoint/2010/main" val="402441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2F41D-D985-42EC-B5F2-200E32AC4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итераторами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5CBEEB-37C7-94EA-70DD-7E5B25376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200" b="1" dirty="0" err="1"/>
              <a:t>iter</a:t>
            </a:r>
            <a:r>
              <a:rPr lang="ru-RU" sz="3200" b="1" dirty="0"/>
              <a:t> – n </a:t>
            </a:r>
            <a:r>
              <a:rPr lang="ru-RU" sz="3200" dirty="0"/>
              <a:t>: возвращает итератор, который смещен от итератора </a:t>
            </a:r>
            <a:r>
              <a:rPr lang="ru-RU" sz="3200" dirty="0" err="1"/>
              <a:t>iter</a:t>
            </a:r>
            <a:r>
              <a:rPr lang="ru-RU" sz="3200" dirty="0"/>
              <a:t> на n позиций назад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200" b="1" dirty="0" err="1"/>
              <a:t>iter</a:t>
            </a:r>
            <a:r>
              <a:rPr lang="ru-RU" sz="3200" b="1" dirty="0"/>
              <a:t> += n </a:t>
            </a:r>
            <a:r>
              <a:rPr lang="ru-RU" sz="3200" dirty="0"/>
              <a:t>: перемещает итератор на n позиций вперед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200" b="1" dirty="0" err="1"/>
              <a:t>iter</a:t>
            </a:r>
            <a:r>
              <a:rPr lang="ru-RU" sz="3200" b="1" dirty="0"/>
              <a:t> -= n </a:t>
            </a:r>
            <a:r>
              <a:rPr lang="ru-RU" sz="3200" dirty="0"/>
              <a:t>: перемещает итератор на n позиций назад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200" b="1" dirty="0"/>
              <a:t>iter1 - iter2 </a:t>
            </a:r>
            <a:r>
              <a:rPr lang="ru-RU" sz="3200" dirty="0"/>
              <a:t>: возвращает количество позиций между итераторами iter1 и iter2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200" b="1" dirty="0"/>
              <a:t>&gt;, &gt;=, &lt;, &lt;= </a:t>
            </a:r>
            <a:r>
              <a:rPr lang="ru-RU" sz="3200" dirty="0"/>
              <a:t>: операции сравнения. Один итератор больше другого, если указывает на элемент, который ближе к концу</a:t>
            </a:r>
          </a:p>
        </p:txBody>
      </p:sp>
    </p:spTree>
    <p:extLst>
      <p:ext uri="{BB962C8B-B14F-4D97-AF65-F5344CB8AC3E}">
        <p14:creationId xmlns:p14="http://schemas.microsoft.com/office/powerpoint/2010/main" val="414553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47E1F-625D-DF84-9361-8AA8D034D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итераторов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565E10-51CE-6B3C-937B-1B08D84BD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int main()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std::vector&lt;int&gt; numbers{ 10, 20, 30, 40 };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auto 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 { </a:t>
            </a:r>
            <a:r>
              <a:rPr lang="en-US" sz="2400" dirty="0" err="1">
                <a:latin typeface="Consolas" panose="020B0609020204030204" pitchFamily="49" charset="0"/>
              </a:rPr>
              <a:t>numbers.begin</a:t>
            </a:r>
            <a:r>
              <a:rPr lang="en-US" sz="2400" dirty="0">
                <a:latin typeface="Consolas" panose="020B0609020204030204" pitchFamily="49" charset="0"/>
              </a:rPr>
              <a:t>() };  // </a:t>
            </a:r>
            <a:r>
              <a:rPr lang="ru-RU" sz="2400" dirty="0">
                <a:latin typeface="Consolas" panose="020B0609020204030204" pitchFamily="49" charset="0"/>
              </a:rPr>
              <a:t>получаем итератор</a:t>
            </a:r>
          </a:p>
          <a:p>
            <a:r>
              <a:rPr lang="ru-RU" sz="2400" dirty="0">
                <a:latin typeface="Consolas" panose="020B0609020204030204" pitchFamily="49" charset="0"/>
              </a:rPr>
              <a:t>    ++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std::</a:t>
            </a:r>
            <a:r>
              <a:rPr lang="en-US" sz="2400" dirty="0" err="1">
                <a:latin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</a:rPr>
              <a:t> &lt;&lt; *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 &lt;&lt; std::</a:t>
            </a:r>
            <a:r>
              <a:rPr lang="en-US" sz="2400" dirty="0" err="1">
                <a:latin typeface="Consolas" panose="020B0609020204030204" pitchFamily="49" charset="0"/>
              </a:rPr>
              <a:t>endl</a:t>
            </a:r>
            <a:r>
              <a:rPr lang="en-US" sz="2400" dirty="0">
                <a:latin typeface="Consolas" panose="020B0609020204030204" pitchFamily="49" charset="0"/>
              </a:rPr>
              <a:t>;    // 20</a:t>
            </a:r>
            <a:endParaRPr lang="ru-RU" sz="2400" dirty="0">
              <a:latin typeface="Consolas" panose="020B0609020204030204" pitchFamily="49" charset="0"/>
            </a:endParaRPr>
          </a:p>
          <a:p>
            <a:r>
              <a:rPr lang="ru-RU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 +=2; 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std::</a:t>
            </a:r>
            <a:r>
              <a:rPr lang="en-US" sz="2400" dirty="0" err="1">
                <a:latin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</a:rPr>
              <a:t> &lt;&lt; *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 &lt;&lt; std::</a:t>
            </a:r>
            <a:r>
              <a:rPr lang="en-US" sz="2400" dirty="0" err="1">
                <a:latin typeface="Consolas" panose="020B0609020204030204" pitchFamily="49" charset="0"/>
              </a:rPr>
              <a:t>endl</a:t>
            </a:r>
            <a:r>
              <a:rPr lang="en-US" sz="2400" dirty="0">
                <a:latin typeface="Consolas" panose="020B0609020204030204" pitchFamily="49" charset="0"/>
              </a:rPr>
              <a:t>;    // 40</a:t>
            </a:r>
            <a:endParaRPr lang="ru-RU" sz="2400" dirty="0">
              <a:latin typeface="Consolas" panose="020B0609020204030204" pitchFamily="49" charset="0"/>
            </a:endParaRPr>
          </a:p>
          <a:p>
            <a:r>
              <a:rPr lang="ru-RU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 - 3;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std::</a:t>
            </a:r>
            <a:r>
              <a:rPr lang="en-US" sz="2400" dirty="0" err="1">
                <a:latin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</a:rPr>
              <a:t> &lt;&lt; *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 &lt;&lt; std::</a:t>
            </a:r>
            <a:r>
              <a:rPr lang="en-US" sz="2400" dirty="0" err="1">
                <a:latin typeface="Consolas" panose="020B0609020204030204" pitchFamily="49" charset="0"/>
              </a:rPr>
              <a:t>endl</a:t>
            </a:r>
            <a:r>
              <a:rPr lang="en-US" sz="2400" dirty="0">
                <a:latin typeface="Consolas" panose="020B0609020204030204" pitchFamily="49" charset="0"/>
              </a:rPr>
              <a:t>;    // 10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  <a:endParaRPr lang="ru-RU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081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6080FE-7B63-6FA3-E9AE-16C0B162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итераторов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68E4F2-A6CD-BEE8-B190-182FFAB97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std::vector&lt;int&gt; numbers{ 10, 20, 30, 40 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auto 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 { </a:t>
            </a:r>
            <a:r>
              <a:rPr lang="en-US" sz="2000" dirty="0" err="1">
                <a:latin typeface="Consolas" panose="020B0609020204030204" pitchFamily="49" charset="0"/>
              </a:rPr>
              <a:t>numbers.begin</a:t>
            </a:r>
            <a:r>
              <a:rPr lang="en-US" sz="2000" dirty="0">
                <a:latin typeface="Consolas" panose="020B0609020204030204" pitchFamily="49" charset="0"/>
              </a:rPr>
              <a:t>() };  // </a:t>
            </a:r>
            <a:r>
              <a:rPr lang="ru-RU" sz="2000" dirty="0">
                <a:latin typeface="Consolas" panose="020B0609020204030204" pitchFamily="49" charset="0"/>
              </a:rPr>
              <a:t>получаем итератор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while(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!=</a:t>
            </a:r>
            <a:r>
              <a:rPr lang="en-US" sz="2000" dirty="0" err="1">
                <a:latin typeface="Consolas" panose="020B0609020204030204" pitchFamily="49" charset="0"/>
              </a:rPr>
              <a:t>numbers.end</a:t>
            </a:r>
            <a:r>
              <a:rPr lang="en-US" sz="2000" dirty="0">
                <a:latin typeface="Consolas" panose="020B0609020204030204" pitchFamily="49" charset="0"/>
              </a:rPr>
              <a:t>())    // </a:t>
            </a:r>
            <a:r>
              <a:rPr lang="ru-RU" sz="2000" dirty="0">
                <a:latin typeface="Consolas" panose="020B0609020204030204" pitchFamily="49" charset="0"/>
              </a:rPr>
              <a:t>пока не дойдем до конца</a:t>
            </a:r>
          </a:p>
          <a:p>
            <a:r>
              <a:rPr lang="ru-RU" sz="2000" dirty="0">
                <a:latin typeface="Consolas" panose="020B0609020204030204" pitchFamily="49" charset="0"/>
              </a:rPr>
              <a:t>{</a:t>
            </a:r>
          </a:p>
          <a:p>
            <a:r>
              <a:rPr lang="ru-RU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*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 &lt;&lt; std::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;// </a:t>
            </a:r>
            <a:r>
              <a:rPr lang="ru-RU" sz="2000" dirty="0">
                <a:latin typeface="Consolas" panose="020B0609020204030204" pitchFamily="49" charset="0"/>
              </a:rPr>
              <a:t>получаем элементы через итератор</a:t>
            </a:r>
          </a:p>
          <a:p>
            <a:r>
              <a:rPr lang="ru-RU" sz="2000" dirty="0">
                <a:latin typeface="Consolas" panose="020B0609020204030204" pitchFamily="49" charset="0"/>
              </a:rPr>
              <a:t>  ++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;             // </a:t>
            </a:r>
            <a:r>
              <a:rPr lang="ru-RU" sz="2000" dirty="0">
                <a:latin typeface="Consolas" panose="020B0609020204030204" pitchFamily="49" charset="0"/>
              </a:rPr>
              <a:t>перемещаемся вперед на один элемент</a:t>
            </a:r>
          </a:p>
          <a:p>
            <a:r>
              <a:rPr lang="ru-RU" sz="2000" dirty="0">
                <a:latin typeface="Consolas" panose="020B0609020204030204" pitchFamily="49" charset="0"/>
              </a:rPr>
              <a:t>}</a:t>
            </a:r>
          </a:p>
          <a:p>
            <a:r>
              <a:rPr lang="ru-RU" sz="2000" dirty="0">
                <a:latin typeface="Consolas" panose="020B0609020204030204" pitchFamily="49" charset="0"/>
              </a:rPr>
              <a:t>// тоже самое</a:t>
            </a:r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for(auto start{</a:t>
            </a:r>
            <a:r>
              <a:rPr lang="en-US" sz="2000" dirty="0" err="1">
                <a:latin typeface="Consolas" panose="020B0609020204030204" pitchFamily="49" charset="0"/>
              </a:rPr>
              <a:t>numbers.begin</a:t>
            </a:r>
            <a:r>
              <a:rPr lang="en-US" sz="2000" dirty="0">
                <a:latin typeface="Consolas" panose="020B0609020204030204" pitchFamily="49" charset="0"/>
              </a:rPr>
              <a:t>()}; start !=</a:t>
            </a:r>
            <a:r>
              <a:rPr lang="en-US" sz="2000" dirty="0" err="1">
                <a:latin typeface="Consolas" panose="020B0609020204030204" pitchFamily="49" charset="0"/>
              </a:rPr>
              <a:t>numbers.end</a:t>
            </a:r>
            <a:r>
              <a:rPr lang="en-US" sz="2000" dirty="0">
                <a:latin typeface="Consolas" panose="020B0609020204030204" pitchFamily="49" charset="0"/>
              </a:rPr>
              <a:t>(); start++ 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*start &lt;&lt; std::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028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FC6D0F-881F-845F-02AA-B2968ACD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итераторов</a:t>
            </a:r>
            <a:br>
              <a:rPr lang="ru-RU" dirty="0"/>
            </a:br>
            <a:r>
              <a:rPr lang="ru-RU" dirty="0"/>
              <a:t>Константные итераторы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C7B4A8-8485-82ED-5A91-28B7A1152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const vector&lt;int&gt; numbers{1, 2, 3, 4, 5};</a:t>
            </a:r>
          </a:p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for(auto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{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numbers.begin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()};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!=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numbers.end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(); ++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   std::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&lt;&lt; *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&lt;&lt; std::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endl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endParaRPr lang="ru-RU" sz="2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std::vector&lt;int&gt; numbers { 1, 2, 3, 4, 5 };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for (auto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{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numbers.cbegin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()};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!=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numbers.cend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(); ++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  std::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&lt;&lt; *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&lt;&lt; std::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endl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}</a:t>
            </a:r>
            <a:endParaRPr lang="ru-RU" sz="24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78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610DC-80C8-7971-0670-2F4B6FEF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итераторов</a:t>
            </a:r>
            <a:br>
              <a:rPr lang="ru-RU" dirty="0"/>
            </a:br>
            <a:r>
              <a:rPr lang="ru-RU" dirty="0"/>
              <a:t>Реверсивный итератор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7057F2-E360-DEE5-8F6E-74C7404E0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std::vector&lt;int&gt; numbers { 1, 2, 3, 4, 5 };</a:t>
            </a:r>
          </a:p>
          <a:p>
            <a:r>
              <a:rPr lang="en-US" dirty="0">
                <a:latin typeface="Consolas" panose="020B0609020204030204" pitchFamily="49" charset="0"/>
              </a:rPr>
              <a:t>for (auto 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 {</a:t>
            </a:r>
            <a:r>
              <a:rPr lang="en-US" dirty="0" err="1">
                <a:latin typeface="Consolas" panose="020B0609020204030204" pitchFamily="49" charset="0"/>
              </a:rPr>
              <a:t>numbers.rbegin</a:t>
            </a:r>
            <a:r>
              <a:rPr lang="en-US" dirty="0">
                <a:latin typeface="Consolas" panose="020B0609020204030204" pitchFamily="49" charset="0"/>
              </a:rPr>
              <a:t>()}; 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 != </a:t>
            </a:r>
            <a:r>
              <a:rPr lang="en-US" dirty="0" err="1">
                <a:latin typeface="Consolas" panose="020B0609020204030204" pitchFamily="49" charset="0"/>
              </a:rPr>
              <a:t>numbers.rend</a:t>
            </a:r>
            <a:r>
              <a:rPr lang="en-US" dirty="0">
                <a:latin typeface="Consolas" panose="020B0609020204030204" pitchFamily="49" charset="0"/>
              </a:rPr>
              <a:t>(); ++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*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 &lt;&lt; "\t";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373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AC57A0-D65B-FDB8-64CC-82044C48B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итераторов</a:t>
            </a:r>
            <a:br>
              <a:rPr lang="ru-RU" dirty="0"/>
            </a:br>
            <a:r>
              <a:rPr lang="ru-RU" dirty="0"/>
              <a:t>Итераторы над массивами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B05D6C-B408-809D-6D95-F026D07CA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int data[]{4, 5, 6, 7, 8};</a:t>
            </a:r>
          </a:p>
          <a:p>
            <a:r>
              <a:rPr lang="en-US" dirty="0">
                <a:latin typeface="Consolas" panose="020B0609020204030204" pitchFamily="49" charset="0"/>
              </a:rPr>
              <a:t>// </a:t>
            </a:r>
            <a:r>
              <a:rPr lang="ru-RU" dirty="0">
                <a:latin typeface="Consolas" panose="020B0609020204030204" pitchFamily="49" charset="0"/>
              </a:rPr>
              <a:t>перебор массива с помощью итераторов</a:t>
            </a:r>
          </a:p>
          <a:p>
            <a:r>
              <a:rPr lang="en-US" dirty="0">
                <a:latin typeface="Consolas" panose="020B0609020204030204" pitchFamily="49" charset="0"/>
              </a:rPr>
              <a:t>for(auto 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 {std::begin(data)}; 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 != std::end(data); 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++)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*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 &lt;&lt; std::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579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AC57A0-D65B-FDB8-64CC-82044C48B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итераторов</a:t>
            </a:r>
            <a:br>
              <a:rPr lang="ru-RU" dirty="0"/>
            </a:br>
            <a:r>
              <a:rPr lang="ru-RU" dirty="0"/>
              <a:t>Итераторы над массивами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B05D6C-B408-809D-6D95-F026D07CA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int data[]{4, 5, 6, 7, 8};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std::vector&lt;int&gt; numbers { 1, 2, 3, 4};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numbers.insert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numbers.end</a:t>
            </a:r>
            <a:r>
              <a:rPr lang="en-US" sz="2000" dirty="0">
                <a:latin typeface="Consolas" panose="020B0609020204030204" pitchFamily="49" charset="0"/>
              </a:rPr>
              <a:t>(), std::begin(data) + 1, std::end(data)-1);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for (auto 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 {</a:t>
            </a:r>
            <a:r>
              <a:rPr lang="en-US" sz="2000" dirty="0" err="1">
                <a:latin typeface="Consolas" panose="020B0609020204030204" pitchFamily="49" charset="0"/>
              </a:rPr>
              <a:t>numbers.begin</a:t>
            </a:r>
            <a:r>
              <a:rPr lang="en-US" sz="2000" dirty="0">
                <a:latin typeface="Consolas" panose="020B0609020204030204" pitchFamily="49" charset="0"/>
              </a:rPr>
              <a:t>()}; 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</a:rPr>
              <a:t>numbers.end</a:t>
            </a:r>
            <a:r>
              <a:rPr lang="en-US" sz="2000" dirty="0">
                <a:latin typeface="Consolas" panose="020B0609020204030204" pitchFamily="49" charset="0"/>
              </a:rPr>
              <a:t>(); ++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ru-RU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*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 &lt;&lt; "\t";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std::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947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2D8A6-3775-76D7-62C2-83DD3B3C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Грамматика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3F2074-90BE-7CFD-617C-AF7885876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ECMAScript</a:t>
            </a:r>
            <a:r>
              <a:rPr lang="ru-RU" dirty="0"/>
              <a:t>: это ближе всего к грамматике, используемой JavaScript и языками .NET.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basic</a:t>
            </a:r>
            <a:r>
              <a:rPr lang="ru-RU" dirty="0"/>
              <a:t>: регулярные выражения POSIX </a:t>
            </a:r>
            <a:r>
              <a:rPr lang="ru-RU" dirty="0" err="1"/>
              <a:t>basic</a:t>
            </a:r>
            <a:r>
              <a:rPr lang="ru-RU" dirty="0"/>
              <a:t> или BRE.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extended</a:t>
            </a:r>
            <a:r>
              <a:rPr lang="ru-RU" dirty="0"/>
              <a:t>: регулярные выражения POSIX </a:t>
            </a:r>
            <a:r>
              <a:rPr lang="ru-RU" dirty="0" err="1"/>
              <a:t>extended</a:t>
            </a:r>
            <a:r>
              <a:rPr lang="ru-RU" dirty="0"/>
              <a:t> или ERE.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awk</a:t>
            </a:r>
            <a:r>
              <a:rPr lang="ru-RU" dirty="0"/>
              <a:t>: Это </a:t>
            </a:r>
            <a:r>
              <a:rPr lang="ru-RU" dirty="0" err="1"/>
              <a:t>extended</a:t>
            </a:r>
            <a:r>
              <a:rPr lang="ru-RU" dirty="0"/>
              <a:t>, но он имеет больше экранов для непечатаемых символов.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grep</a:t>
            </a:r>
            <a:r>
              <a:rPr lang="ru-RU" dirty="0"/>
              <a:t>: это </a:t>
            </a:r>
            <a:r>
              <a:rPr lang="ru-RU" dirty="0" err="1"/>
              <a:t>basic</a:t>
            </a:r>
            <a:r>
              <a:rPr lang="ru-RU" dirty="0"/>
              <a:t>, но он также позволяет новым (\n) символам разделять изменения.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egrep</a:t>
            </a:r>
            <a:r>
              <a:rPr lang="ru-RU" dirty="0"/>
              <a:t>: это </a:t>
            </a:r>
            <a:r>
              <a:rPr lang="ru-RU" dirty="0" err="1"/>
              <a:t>extended</a:t>
            </a:r>
            <a:r>
              <a:rPr lang="ru-RU" dirty="0"/>
              <a:t>, но он также позволяет новым символам разделять изменения.</a:t>
            </a:r>
          </a:p>
        </p:txBody>
      </p:sp>
    </p:spTree>
    <p:extLst>
      <p:ext uri="{BB962C8B-B14F-4D97-AF65-F5344CB8AC3E}">
        <p14:creationId xmlns:p14="http://schemas.microsoft.com/office/powerpoint/2010/main" val="305695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2D8A6-3775-76D7-62C2-83DD3B3C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Грамматика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3F2074-90BE-7CFD-617C-AF7885876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icase</a:t>
            </a:r>
            <a:r>
              <a:rPr lang="ru-RU" dirty="0"/>
              <a:t>: игнорировать регистр при сопоставлении.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nosubs</a:t>
            </a:r>
            <a:r>
              <a:rPr lang="ru-RU" dirty="0"/>
              <a:t>: игнорировать помеченные совпадения (то есть выражения в скобках); замены не хранятся.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optimize</a:t>
            </a:r>
            <a:r>
              <a:rPr lang="ru-RU" dirty="0"/>
              <a:t>: сделайте сопоставление быстрее, за возможный счет большего времени строительства.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collate</a:t>
            </a:r>
            <a:r>
              <a:rPr lang="ru-RU" dirty="0"/>
              <a:t>: используйте последовательности сортировки с учетом языкового стандарта (например, диапазоны формы [a-z]).</a:t>
            </a:r>
          </a:p>
        </p:txBody>
      </p:sp>
    </p:spTree>
    <p:extLst>
      <p:ext uri="{BB962C8B-B14F-4D97-AF65-F5344CB8AC3E}">
        <p14:creationId xmlns:p14="http://schemas.microsoft.com/office/powerpoint/2010/main" val="3905401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05EE1-0781-19E4-8628-4D05C08E5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Грамматика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ABFF2F-598D-FBDF-E37E-531F3C1DC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Если явно не задана грамматика, то выбирается грамматика </a:t>
            </a:r>
            <a:r>
              <a:rPr lang="ru-RU" b="1" i="1" dirty="0" err="1"/>
              <a:t>ECMAScript</a:t>
            </a:r>
            <a:endParaRPr lang="en-US" b="1" i="1" dirty="0"/>
          </a:p>
          <a:p>
            <a:pPr algn="just"/>
            <a:endParaRPr lang="ru-RU" b="1" i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4365D0-FFC6-FE9E-1D82-526FAF5F6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7836"/>
            <a:ext cx="12192000" cy="289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9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5571B7-978A-71CD-C462-691C57864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С++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ADD49F-018B-CCB8-993A-E0ECD4EA6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161616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i="1" dirty="0" err="1">
                <a:solidFill>
                  <a:srgbClr val="161616"/>
                </a:solidFill>
                <a:effectLst/>
                <a:latin typeface="Consolas" panose="020B0609020204030204" pitchFamily="49" charset="0"/>
              </a:rPr>
              <a:t>regex_constants</a:t>
            </a:r>
            <a:r>
              <a:rPr lang="ru-RU" b="1" i="1" dirty="0">
                <a:solidFill>
                  <a:srgbClr val="161616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dirty="0">
                <a:solidFill>
                  <a:srgbClr val="161616"/>
                </a:solidFill>
                <a:effectLst/>
              </a:rPr>
              <a:t>пространство имён</a:t>
            </a:r>
            <a:endParaRPr lang="ru-RU" b="1" i="1" dirty="0">
              <a:solidFill>
                <a:srgbClr val="161616"/>
              </a:solidFill>
              <a:latin typeface="Consolas" panose="020B0609020204030204" pitchFamily="49" charset="0"/>
            </a:endParaRPr>
          </a:p>
          <a:p>
            <a:r>
              <a:rPr lang="fr-FR" b="1" i="1" dirty="0">
                <a:solidFill>
                  <a:srgbClr val="161616"/>
                </a:solidFill>
                <a:effectLst/>
                <a:latin typeface="Consolas" panose="020B0609020204030204" pitchFamily="49" charset="0"/>
              </a:rPr>
              <a:t>std::regex_constants::syntax_option_type</a:t>
            </a:r>
            <a:r>
              <a:rPr lang="ru-RU" b="1" i="1" dirty="0">
                <a:solidFill>
                  <a:srgbClr val="16161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i="0" dirty="0">
                <a:solidFill>
                  <a:srgbClr val="161616"/>
                </a:solidFill>
                <a:effectLst/>
                <a:latin typeface="SFMono-Regular"/>
              </a:rPr>
              <a:t>– </a:t>
            </a:r>
            <a:r>
              <a:rPr lang="ru-RU" b="0" i="0" dirty="0">
                <a:solidFill>
                  <a:srgbClr val="161616"/>
                </a:solidFill>
                <a:effectLst/>
              </a:rPr>
              <a:t>перечисление для выбора типа языка регулярных выражений</a:t>
            </a:r>
            <a:endParaRPr lang="ru-RU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611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47AE2-B818-D725-96BA-C3063D401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3958EF-F73E-69A2-C820-C91961FEF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751"/>
            <a:ext cx="10515600" cy="5338724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#include &lt;iostream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#include &lt;string&gt;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std::string text = "John Doe (30 years old) and Jane Doe (28 years old)";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std::regex pattern("([A-Za-z]+) ([A-Za-z]+) \\((\\d+) years old\\)");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auto </a:t>
            </a:r>
            <a:r>
              <a:rPr lang="en-US" sz="2000" dirty="0" err="1">
                <a:latin typeface="Consolas" panose="020B0609020204030204" pitchFamily="49" charset="0"/>
              </a:rPr>
              <a:t>regex_iterator</a:t>
            </a:r>
            <a:r>
              <a:rPr lang="en-US" sz="2000" dirty="0">
                <a:latin typeface="Consolas" panose="020B0609020204030204" pitchFamily="49" charset="0"/>
              </a:rPr>
              <a:t> = std::</a:t>
            </a:r>
            <a:r>
              <a:rPr lang="en-US" sz="2000" dirty="0" err="1">
                <a:latin typeface="Consolas" panose="020B0609020204030204" pitchFamily="49" charset="0"/>
              </a:rPr>
              <a:t>sregex_iterator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text.begin</a:t>
            </a:r>
            <a:r>
              <a:rPr lang="en-US" sz="2000" dirty="0">
                <a:latin typeface="Consolas" panose="020B0609020204030204" pitchFamily="49" charset="0"/>
              </a:rPr>
              <a:t>(), </a:t>
            </a:r>
            <a:r>
              <a:rPr lang="en-US" sz="2000" dirty="0" err="1">
                <a:latin typeface="Consolas" panose="020B0609020204030204" pitchFamily="49" charset="0"/>
              </a:rPr>
              <a:t>text.end</a:t>
            </a:r>
            <a:r>
              <a:rPr lang="en-US" sz="2000" dirty="0">
                <a:latin typeface="Consolas" panose="020B0609020204030204" pitchFamily="49" charset="0"/>
              </a:rPr>
              <a:t>(), pattern);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auto </a:t>
            </a:r>
            <a:r>
              <a:rPr lang="en-US" sz="2000" dirty="0" err="1">
                <a:latin typeface="Consolas" panose="020B0609020204030204" pitchFamily="49" charset="0"/>
              </a:rPr>
              <a:t>regex_end</a:t>
            </a:r>
            <a:r>
              <a:rPr lang="en-US" sz="2000" dirty="0">
                <a:latin typeface="Consolas" panose="020B0609020204030204" pitchFamily="49" charset="0"/>
              </a:rPr>
              <a:t> = std::</a:t>
            </a:r>
            <a:r>
              <a:rPr lang="en-US" sz="2000" dirty="0" err="1">
                <a:latin typeface="Consolas" panose="020B0609020204030204" pitchFamily="49" charset="0"/>
              </a:rPr>
              <a:t>sregex_iterator</a:t>
            </a:r>
            <a:r>
              <a:rPr lang="en-US" sz="20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for (; </a:t>
            </a:r>
            <a:r>
              <a:rPr lang="en-US" sz="2000" dirty="0" err="1">
                <a:latin typeface="Consolas" panose="020B0609020204030204" pitchFamily="49" charset="0"/>
              </a:rPr>
              <a:t>regex_iterator</a:t>
            </a:r>
            <a:r>
              <a:rPr lang="en-US" sz="2000" dirty="0">
                <a:latin typeface="Consolas" panose="020B0609020204030204" pitchFamily="49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</a:rPr>
              <a:t>regex_end</a:t>
            </a:r>
            <a:r>
              <a:rPr lang="en-US" sz="2000" dirty="0">
                <a:latin typeface="Consolas" panose="020B0609020204030204" pitchFamily="49" charset="0"/>
              </a:rPr>
              <a:t>; ++</a:t>
            </a:r>
            <a:r>
              <a:rPr lang="en-US" sz="2000" dirty="0" err="1">
                <a:latin typeface="Consolas" panose="020B0609020204030204" pitchFamily="49" charset="0"/>
              </a:rPr>
              <a:t>regex_iterator</a:t>
            </a:r>
            <a:r>
              <a:rPr lang="en-US" sz="2000" dirty="0">
                <a:latin typeface="Consolas" panose="020B0609020204030204" pitchFamily="49" charset="0"/>
              </a:rPr>
              <a:t>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std::</a:t>
            </a:r>
            <a:r>
              <a:rPr lang="en-US" sz="2000" dirty="0" err="1">
                <a:latin typeface="Consolas" panose="020B0609020204030204" pitchFamily="49" charset="0"/>
              </a:rPr>
              <a:t>smatch</a:t>
            </a:r>
            <a:r>
              <a:rPr lang="en-US" sz="2000" dirty="0">
                <a:latin typeface="Consolas" panose="020B0609020204030204" pitchFamily="49" charset="0"/>
              </a:rPr>
              <a:t> match = *</a:t>
            </a:r>
            <a:r>
              <a:rPr lang="en-US" sz="2000" dirty="0" err="1">
                <a:latin typeface="Consolas" panose="020B0609020204030204" pitchFamily="49" charset="0"/>
              </a:rPr>
              <a:t>regex_iterator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"Full match: " &lt;&lt; </a:t>
            </a:r>
            <a:r>
              <a:rPr lang="en-US" sz="2000" dirty="0" err="1">
                <a:latin typeface="Consolas" panose="020B0609020204030204" pitchFamily="49" charset="0"/>
              </a:rPr>
              <a:t>match.str</a:t>
            </a:r>
            <a:r>
              <a:rPr lang="en-US" sz="2000" dirty="0">
                <a:latin typeface="Consolas" panose="020B0609020204030204" pitchFamily="49" charset="0"/>
              </a:rPr>
              <a:t>() &lt;&lt; std::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ru-RU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62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2559C-4BAA-3C9B-4933-52E1CECE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7EFCE4-27D6-33ED-5B55-002363EDF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int main(){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Input{"hello world"};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std::regex Pattern{"hello"};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bool </a:t>
            </a:r>
            <a:r>
              <a:rPr lang="en-US" sz="2000" dirty="0" err="1">
                <a:latin typeface="Consolas" panose="020B0609020204030204" pitchFamily="49" charset="0"/>
              </a:rPr>
              <a:t>MatchResult</a:t>
            </a:r>
            <a:r>
              <a:rPr lang="en-US" sz="2000" dirty="0">
                <a:latin typeface="Consolas" panose="020B0609020204030204" pitchFamily="49" charset="0"/>
              </a:rPr>
              <a:t>{std::</a:t>
            </a:r>
            <a:r>
              <a:rPr lang="en-US" sz="2000" dirty="0" err="1">
                <a:latin typeface="Consolas" panose="020B0609020204030204" pitchFamily="49" charset="0"/>
              </a:rPr>
              <a:t>regex_match</a:t>
            </a:r>
            <a:r>
              <a:rPr lang="en-US" sz="2000" dirty="0">
                <a:latin typeface="Consolas" panose="020B0609020204030204" pitchFamily="49" charset="0"/>
              </a:rPr>
              <a:t>(Input, Pattern)};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//false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bool </a:t>
            </a:r>
            <a:r>
              <a:rPr lang="en-US" sz="2000" dirty="0" err="1">
                <a:latin typeface="Consolas" panose="020B0609020204030204" pitchFamily="49" charset="0"/>
              </a:rPr>
              <a:t>SearchResult</a:t>
            </a:r>
            <a:r>
              <a:rPr lang="en-US" sz="2000" dirty="0">
                <a:latin typeface="Consolas" panose="020B0609020204030204" pitchFamily="49" charset="0"/>
              </a:rPr>
              <a:t>{std::</a:t>
            </a:r>
            <a:r>
              <a:rPr lang="en-US" sz="2000" dirty="0" err="1">
                <a:latin typeface="Consolas" panose="020B0609020204030204" pitchFamily="49" charset="0"/>
              </a:rPr>
              <a:t>regex_search</a:t>
            </a:r>
            <a:r>
              <a:rPr lang="en-US" sz="2000" dirty="0">
                <a:latin typeface="Consolas" panose="020B0609020204030204" pitchFamily="49" charset="0"/>
              </a:rPr>
              <a:t>(Input, Pattern)}; 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//true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ru-RU" sz="2000" dirty="0">
              <a:latin typeface="Consolas" panose="020B0609020204030204" pitchFamily="49" charset="0"/>
            </a:endParaRPr>
          </a:p>
          <a:p>
            <a:endParaRPr lang="ru-RU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latin typeface="Consolas" panose="020B0609020204030204" pitchFamily="49" charset="0"/>
              </a:rPr>
              <a:t>regex_match</a:t>
            </a:r>
            <a:r>
              <a:rPr lang="ru-RU" sz="2000" dirty="0">
                <a:latin typeface="Consolas" panose="020B0609020204030204" pitchFamily="49" charset="0"/>
              </a:rPr>
              <a:t>() - </a:t>
            </a:r>
            <a:r>
              <a:rPr lang="ru-RU" sz="1800" dirty="0"/>
              <a:t>возвращает </a:t>
            </a:r>
            <a:r>
              <a:rPr lang="ru-RU" sz="1800" dirty="0" err="1"/>
              <a:t>true</a:t>
            </a:r>
            <a:r>
              <a:rPr lang="ru-RU" sz="1800" dirty="0"/>
              <a:t>, если </a:t>
            </a:r>
            <a:r>
              <a:rPr lang="ru-RU" sz="1800" b="1" i="1" dirty="0">
                <a:effectLst/>
              </a:rPr>
              <a:t>вся входная</a:t>
            </a:r>
            <a:r>
              <a:rPr lang="ru-RU" sz="1800" b="0" i="0" dirty="0">
                <a:effectLst/>
              </a:rPr>
              <a:t> </a:t>
            </a:r>
            <a:r>
              <a:rPr lang="ru-RU" sz="1800" b="1" i="1" dirty="0">
                <a:effectLst/>
              </a:rPr>
              <a:t>строка</a:t>
            </a:r>
            <a:r>
              <a:rPr lang="ru-RU" sz="1800" dirty="0"/>
              <a:t> соответствует шаблону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latin typeface="Consolas" panose="020B0609020204030204" pitchFamily="49" charset="0"/>
              </a:rPr>
              <a:t>regex_search</a:t>
            </a:r>
            <a:r>
              <a:rPr lang="ru-RU" sz="2000" dirty="0">
                <a:latin typeface="Consolas" panose="020B0609020204030204" pitchFamily="49" charset="0"/>
              </a:rPr>
              <a:t>() - </a:t>
            </a:r>
            <a:r>
              <a:rPr lang="ru-RU" sz="1800" dirty="0"/>
              <a:t>возвращает </a:t>
            </a:r>
            <a:r>
              <a:rPr lang="ru-RU" sz="1800" dirty="0" err="1"/>
              <a:t>true</a:t>
            </a:r>
            <a:r>
              <a:rPr lang="ru-RU" sz="1800" dirty="0"/>
              <a:t>, если </a:t>
            </a:r>
            <a:r>
              <a:rPr lang="ru-RU" sz="1800" b="1" i="1" dirty="0"/>
              <a:t>часть входной строки</a:t>
            </a:r>
            <a:r>
              <a:rPr lang="ru-RU" sz="1800" dirty="0"/>
              <a:t> соответствует шаблону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37899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std::string Input{"Hello world"};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std::regex </a:t>
            </a:r>
            <a:r>
              <a:rPr lang="en-US" sz="1800" dirty="0" err="1">
                <a:latin typeface="Consolas" panose="020B0609020204030204" pitchFamily="49" charset="0"/>
              </a:rPr>
              <a:t>SensitivePattern</a:t>
            </a:r>
            <a:r>
              <a:rPr lang="en-US" sz="1800" dirty="0">
                <a:latin typeface="Consolas" panose="020B0609020204030204" pitchFamily="49" charset="0"/>
              </a:rPr>
              <a:t>{"hello"};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std::regex </a:t>
            </a:r>
            <a:r>
              <a:rPr lang="en-US" sz="1800" dirty="0" err="1">
                <a:latin typeface="Consolas" panose="020B0609020204030204" pitchFamily="49" charset="0"/>
              </a:rPr>
              <a:t>InsensitivePattern</a:t>
            </a:r>
            <a:r>
              <a:rPr lang="en-US" sz="1800" dirty="0">
                <a:latin typeface="Consolas" panose="020B0609020204030204" pitchFamily="49" charset="0"/>
              </a:rPr>
              <a:t>{ "hello", std::regex::</a:t>
            </a:r>
            <a:r>
              <a:rPr lang="en-US" sz="1800" dirty="0" err="1">
                <a:latin typeface="Consolas" panose="020B0609020204030204" pitchFamily="49" charset="0"/>
              </a:rPr>
              <a:t>icase</a:t>
            </a:r>
            <a:r>
              <a:rPr lang="en-US" sz="1800" dirty="0">
                <a:latin typeface="Consolas" panose="020B0609020204030204" pitchFamily="49" charset="0"/>
              </a:rPr>
              <a:t>};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bool </a:t>
            </a:r>
            <a:r>
              <a:rPr lang="en-US" sz="1800" dirty="0" err="1">
                <a:latin typeface="Consolas" panose="020B0609020204030204" pitchFamily="49" charset="0"/>
              </a:rPr>
              <a:t>SensitiveResult</a:t>
            </a:r>
            <a:r>
              <a:rPr lang="en-US" sz="1800" dirty="0">
                <a:latin typeface="Consolas" panose="020B0609020204030204" pitchFamily="49" charset="0"/>
              </a:rPr>
              <a:t>{std::</a:t>
            </a:r>
            <a:r>
              <a:rPr lang="en-US" sz="1800" dirty="0" err="1">
                <a:latin typeface="Consolas" panose="020B0609020204030204" pitchFamily="49" charset="0"/>
              </a:rPr>
              <a:t>regex_search</a:t>
            </a:r>
            <a:r>
              <a:rPr lang="en-US" sz="1800" dirty="0">
                <a:latin typeface="Consolas" panose="020B0609020204030204" pitchFamily="49" charset="0"/>
              </a:rPr>
              <a:t>(Input, </a:t>
            </a:r>
            <a:r>
              <a:rPr lang="en-US" sz="1800" dirty="0" err="1">
                <a:latin typeface="Consolas" panose="020B0609020204030204" pitchFamily="49" charset="0"/>
              </a:rPr>
              <a:t>SensitivePattern</a:t>
            </a:r>
            <a:r>
              <a:rPr lang="en-US" sz="1800" dirty="0">
                <a:latin typeface="Consolas" panose="020B0609020204030204" pitchFamily="49" charset="0"/>
              </a:rPr>
              <a:t>)};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//false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bool </a:t>
            </a:r>
            <a:r>
              <a:rPr lang="en-US" sz="1800" dirty="0" err="1">
                <a:latin typeface="Consolas" panose="020B0609020204030204" pitchFamily="49" charset="0"/>
              </a:rPr>
              <a:t>InsensitiveResult</a:t>
            </a:r>
            <a:r>
              <a:rPr lang="en-US" sz="1800" dirty="0">
                <a:latin typeface="Consolas" panose="020B0609020204030204" pitchFamily="49" charset="0"/>
              </a:rPr>
              <a:t>{std::</a:t>
            </a:r>
            <a:r>
              <a:rPr lang="en-US" sz="1800" dirty="0" err="1">
                <a:latin typeface="Consolas" panose="020B0609020204030204" pitchFamily="49" charset="0"/>
              </a:rPr>
              <a:t>regex_search</a:t>
            </a:r>
            <a:r>
              <a:rPr lang="en-US" sz="1800" dirty="0">
                <a:latin typeface="Consolas" panose="020B0609020204030204" pitchFamily="49" charset="0"/>
              </a:rPr>
              <a:t>(Input, </a:t>
            </a:r>
            <a:r>
              <a:rPr lang="en-US" sz="1800" dirty="0" err="1">
                <a:latin typeface="Consolas" panose="020B0609020204030204" pitchFamily="49" charset="0"/>
              </a:rPr>
              <a:t>InsensitivePattern</a:t>
            </a:r>
            <a:r>
              <a:rPr lang="en-US" sz="1800" dirty="0">
                <a:latin typeface="Consolas" panose="020B0609020204030204" pitchFamily="49" charset="0"/>
              </a:rPr>
              <a:t>)};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//true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}</a:t>
            </a:r>
            <a:endParaRPr lang="ru-RU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470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Подстановка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Символ точки . действует как подстановочный знак, сопоставляя любой символ в строке.</a:t>
            </a:r>
          </a:p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c.t -&gt; cat</a:t>
            </a:r>
          </a:p>
          <a:p>
            <a:r>
              <a:rPr lang="en-US" dirty="0"/>
              <a:t>✔️ c.t -&gt; cut</a:t>
            </a:r>
          </a:p>
          <a:p>
            <a:r>
              <a:rPr lang="en-US" dirty="0"/>
              <a:t>✔️ c.t -&gt; cot</a:t>
            </a:r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dirty="0"/>
              <a:t>❌ </a:t>
            </a:r>
            <a:r>
              <a:rPr lang="en-US" dirty="0"/>
              <a:t>c.t -&gt; cart</a:t>
            </a:r>
          </a:p>
          <a:p>
            <a:r>
              <a:rPr lang="ru-RU" dirty="0"/>
              <a:t>❌ </a:t>
            </a:r>
            <a:r>
              <a:rPr lang="en-US" dirty="0"/>
              <a:t>c.t -&gt; colt</a:t>
            </a:r>
          </a:p>
          <a:p>
            <a:r>
              <a:rPr lang="ru-RU" dirty="0"/>
              <a:t>❌ </a:t>
            </a:r>
            <a:r>
              <a:rPr lang="en-US" dirty="0"/>
              <a:t>c.t -&gt; carrot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8136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Подстановка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dirty="0"/>
              <a:t>✔️ </a:t>
            </a:r>
            <a:r>
              <a:rPr lang="en-US" dirty="0" err="1"/>
              <a:t>c..t</a:t>
            </a:r>
            <a:r>
              <a:rPr lang="en-US" dirty="0"/>
              <a:t> -&gt; cart</a:t>
            </a:r>
          </a:p>
          <a:p>
            <a:r>
              <a:rPr lang="en-US" dirty="0"/>
              <a:t>✔️ </a:t>
            </a:r>
            <a:r>
              <a:rPr lang="en-US" dirty="0" err="1"/>
              <a:t>c..t</a:t>
            </a:r>
            <a:r>
              <a:rPr lang="en-US" dirty="0"/>
              <a:t> -&gt; colt</a:t>
            </a:r>
          </a:p>
          <a:p>
            <a:r>
              <a:rPr lang="en-US" dirty="0"/>
              <a:t>✔️ c....t -&gt; carrot</a:t>
            </a:r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будет работать:</a:t>
            </a:r>
          </a:p>
          <a:p>
            <a:r>
              <a:rPr lang="ru-RU" dirty="0"/>
              <a:t>❌ </a:t>
            </a:r>
            <a:r>
              <a:rPr lang="en-US" dirty="0" err="1"/>
              <a:t>c..t</a:t>
            </a:r>
            <a:r>
              <a:rPr lang="en-US" dirty="0"/>
              <a:t> -&gt; carrot</a:t>
            </a:r>
            <a:endParaRPr lang="ru-RU" dirty="0"/>
          </a:p>
          <a:p>
            <a:r>
              <a:rPr lang="ru-RU" b="1" dirty="0">
                <a:solidFill>
                  <a:srgbClr val="00B050"/>
                </a:solidFill>
              </a:rPr>
              <a:t>Работает для всех:</a:t>
            </a:r>
          </a:p>
          <a:p>
            <a:r>
              <a:rPr lang="en-US" dirty="0"/>
              <a:t>✔️ c.*t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0757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Чередование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</a:t>
            </a:r>
            <a:r>
              <a:rPr lang="en-US" dirty="0" err="1"/>
              <a:t>cat|hat</a:t>
            </a:r>
            <a:r>
              <a:rPr lang="en-US" dirty="0"/>
              <a:t> -&gt; cat</a:t>
            </a:r>
          </a:p>
          <a:p>
            <a:r>
              <a:rPr lang="en-US" dirty="0"/>
              <a:t>✔️ </a:t>
            </a:r>
            <a:r>
              <a:rPr lang="en-US" dirty="0" err="1"/>
              <a:t>cat|hat</a:t>
            </a:r>
            <a:r>
              <a:rPr lang="en-US" dirty="0"/>
              <a:t> -&gt; hat</a:t>
            </a:r>
          </a:p>
          <a:p>
            <a:r>
              <a:rPr lang="en-US" dirty="0"/>
              <a:t>✔️ cat|h.t -&gt; hit</a:t>
            </a:r>
            <a:endParaRPr lang="ru-RU" dirty="0"/>
          </a:p>
          <a:p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будет работать:</a:t>
            </a:r>
          </a:p>
          <a:p>
            <a:r>
              <a:rPr lang="ru-RU" dirty="0"/>
              <a:t>❌ </a:t>
            </a:r>
            <a:r>
              <a:rPr lang="en-US" dirty="0" err="1"/>
              <a:t>cat|hat</a:t>
            </a:r>
            <a:r>
              <a:rPr lang="en-US" dirty="0"/>
              <a:t> -&gt; tat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6643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Необязательный символ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fr-FR" dirty="0"/>
              <a:t>✔️ can?t -&gt; cant</a:t>
            </a:r>
          </a:p>
          <a:p>
            <a:r>
              <a:rPr lang="fr-FR" dirty="0"/>
              <a:t>✔️ can?t -&gt; cat</a:t>
            </a:r>
          </a:p>
          <a:p>
            <a:r>
              <a:rPr lang="fr-FR" dirty="0"/>
              <a:t>✔️ ca.?t -&gt; cart</a:t>
            </a:r>
          </a:p>
          <a:p>
            <a:r>
              <a:rPr lang="fr-FR" dirty="0"/>
              <a:t>✔️ ca.?t -&gt; cat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9197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Начало строки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^cat -&gt; cat</a:t>
            </a:r>
          </a:p>
          <a:p>
            <a:r>
              <a:rPr lang="en-US" dirty="0"/>
              <a:t>✔️ ^</a:t>
            </a:r>
            <a:r>
              <a:rPr lang="en-US" dirty="0" err="1"/>
              <a:t>cat|the</a:t>
            </a:r>
            <a:r>
              <a:rPr lang="en-US" dirty="0"/>
              <a:t> -&gt; the</a:t>
            </a:r>
          </a:p>
          <a:p>
            <a:r>
              <a:rPr lang="en-US" dirty="0"/>
              <a:t>✔️ ^.at -&gt; mat</a:t>
            </a:r>
            <a:endParaRPr lang="ru-RU" dirty="0"/>
          </a:p>
          <a:p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en-US" dirty="0"/>
              <a:t>❌ ^cat -&gt; the cat</a:t>
            </a:r>
            <a:endParaRPr lang="ru-RU" dirty="0"/>
          </a:p>
          <a:p>
            <a:r>
              <a:rPr lang="en-US" dirty="0"/>
              <a:t>❌ ^.at -&gt; the mat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959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Конец строки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cat$ -&gt; cat</a:t>
            </a:r>
          </a:p>
          <a:p>
            <a:r>
              <a:rPr lang="en-US" dirty="0"/>
              <a:t>✔️ </a:t>
            </a:r>
            <a:r>
              <a:rPr lang="en-US" dirty="0" err="1"/>
              <a:t>cat|mat</a:t>
            </a:r>
            <a:r>
              <a:rPr lang="en-US" dirty="0"/>
              <a:t>$ -&gt; the cat</a:t>
            </a:r>
          </a:p>
          <a:p>
            <a:r>
              <a:rPr lang="en-US" dirty="0"/>
              <a:t>✔️ </a:t>
            </a:r>
            <a:r>
              <a:rPr lang="en-US" dirty="0" err="1"/>
              <a:t>cat|mat</a:t>
            </a:r>
            <a:r>
              <a:rPr lang="en-US" dirty="0"/>
              <a:t>$ -&gt; sat on the mat</a:t>
            </a:r>
          </a:p>
          <a:p>
            <a:r>
              <a:rPr lang="en-US" dirty="0"/>
              <a:t>✔️ ca.$ -&gt; the can</a:t>
            </a:r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en-US" dirty="0"/>
              <a:t>❌ cat$ -&gt; the cat sat</a:t>
            </a:r>
          </a:p>
        </p:txBody>
      </p:sp>
    </p:spTree>
    <p:extLst>
      <p:ext uri="{BB962C8B-B14F-4D97-AF65-F5344CB8AC3E}">
        <p14:creationId xmlns:p14="http://schemas.microsoft.com/office/powerpoint/2010/main" val="2703980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Комбинация условий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^cat$ -&gt; cat</a:t>
            </a:r>
          </a:p>
          <a:p>
            <a:r>
              <a:rPr lang="en-US" dirty="0"/>
              <a:t>✔️ ^.at$ -&gt; cat</a:t>
            </a:r>
          </a:p>
          <a:p>
            <a:r>
              <a:rPr lang="en-US" dirty="0"/>
              <a:t>✔️ ^.at$ -&gt; mat</a:t>
            </a: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en-US" dirty="0"/>
              <a:t>❌ ^cat$ -&gt; cats</a:t>
            </a:r>
          </a:p>
          <a:p>
            <a:r>
              <a:rPr lang="en-US" dirty="0"/>
              <a:t>❌ ^cat$ -&gt; the cat</a:t>
            </a:r>
          </a:p>
          <a:p>
            <a:r>
              <a:rPr lang="en-US" dirty="0"/>
              <a:t>❌ ^.at$ -&gt; mate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8921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Экранирование спец. символов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sat on the mat. -&gt; sat on the mat.</a:t>
            </a:r>
          </a:p>
          <a:p>
            <a:r>
              <a:rPr lang="en-US" dirty="0"/>
              <a:t>✔️ sat on the mat. -&gt; sat on the mat and</a:t>
            </a:r>
          </a:p>
          <a:p>
            <a:r>
              <a:rPr lang="en-US" dirty="0"/>
              <a:t>✔️ sat on the mat. -&gt; sat on the mate</a:t>
            </a:r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en-US" b="1" dirty="0">
                <a:solidFill>
                  <a:srgbClr val="FF0000"/>
                </a:solidFill>
              </a:rPr>
              <a:t>✔️ sat on the mat\. -&gt; sat on the mat.</a:t>
            </a:r>
          </a:p>
          <a:p>
            <a:r>
              <a:rPr lang="en-US" b="1" dirty="0">
                <a:solidFill>
                  <a:srgbClr val="FF0000"/>
                </a:solidFill>
              </a:rPr>
              <a:t>❌ sat on the mat\. -&gt; sat on the mate</a:t>
            </a:r>
          </a:p>
          <a:p>
            <a:r>
              <a:rPr lang="en-US" b="1" dirty="0">
                <a:solidFill>
                  <a:srgbClr val="FF0000"/>
                </a:solidFill>
              </a:rPr>
              <a:t>❌ sat on the mat\. -&gt; sat on the mat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7646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Наборы символов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^[Tt]he -&gt; the cat</a:t>
            </a:r>
          </a:p>
          <a:p>
            <a:r>
              <a:rPr lang="en-US" dirty="0"/>
              <a:t>✔️ ^[Tt]he -&gt; The cat</a:t>
            </a:r>
          </a:p>
          <a:p>
            <a:r>
              <a:rPr lang="en-US" dirty="0"/>
              <a:t>✔️ [</a:t>
            </a:r>
            <a:r>
              <a:rPr lang="en-US" dirty="0" err="1"/>
              <a:t>cbm</a:t>
            </a:r>
            <a:r>
              <a:rPr lang="en-US" dirty="0"/>
              <a:t>]?at -&gt; at</a:t>
            </a:r>
          </a:p>
          <a:p>
            <a:r>
              <a:rPr lang="en-US" dirty="0"/>
              <a:t>✔️ [</a:t>
            </a:r>
            <a:r>
              <a:rPr lang="en-US" dirty="0" err="1"/>
              <a:t>cbm</a:t>
            </a:r>
            <a:r>
              <a:rPr lang="en-US" dirty="0"/>
              <a:t>]?at -&gt; cat</a:t>
            </a:r>
          </a:p>
          <a:p>
            <a:r>
              <a:rPr lang="en-US" dirty="0"/>
              <a:t>✔️ [</a:t>
            </a:r>
            <a:r>
              <a:rPr lang="en-US" dirty="0" err="1"/>
              <a:t>cbm</a:t>
            </a:r>
            <a:r>
              <a:rPr lang="en-US" dirty="0"/>
              <a:t>]?at -&gt; bat</a:t>
            </a:r>
          </a:p>
          <a:p>
            <a:r>
              <a:rPr lang="en-US" dirty="0"/>
              <a:t>✔️ [</a:t>
            </a:r>
            <a:r>
              <a:rPr lang="en-US" dirty="0" err="1"/>
              <a:t>cbm</a:t>
            </a:r>
            <a:r>
              <a:rPr lang="en-US" dirty="0"/>
              <a:t>]?at -&gt; mat</a:t>
            </a:r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en-US" dirty="0"/>
              <a:t>❌ ^[Tt]he -&gt; Not the cat</a:t>
            </a:r>
          </a:p>
        </p:txBody>
      </p:sp>
    </p:spTree>
    <p:extLst>
      <p:ext uri="{BB962C8B-B14F-4D97-AF65-F5344CB8AC3E}">
        <p14:creationId xmlns:p14="http://schemas.microsoft.com/office/powerpoint/2010/main" val="619186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Наборы символов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cat[.] -&gt; cat.</a:t>
            </a: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dirty="0"/>
              <a:t>❌ </a:t>
            </a:r>
            <a:r>
              <a:rPr lang="en-US" dirty="0"/>
              <a:t>cat[.] -&gt; cats</a:t>
            </a:r>
            <a:endParaRPr lang="ru-RU" dirty="0"/>
          </a:p>
          <a:p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640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Диапазоны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[a-h]am -&gt; cam</a:t>
            </a:r>
          </a:p>
          <a:p>
            <a:r>
              <a:rPr lang="en-US" dirty="0"/>
              <a:t>✔️ [a-h]am -&gt; ham</a:t>
            </a:r>
          </a:p>
          <a:p>
            <a:r>
              <a:rPr lang="en-US" dirty="0"/>
              <a:t>✔️ [a-z]am -&gt; ram</a:t>
            </a:r>
          </a:p>
          <a:p>
            <a:r>
              <a:rPr lang="en-US" dirty="0"/>
              <a:t>✔️ [0-9]am -&gt; 9am</a:t>
            </a:r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dirty="0"/>
              <a:t>❌ [</a:t>
            </a:r>
            <a:r>
              <a:rPr lang="en-US" dirty="0"/>
              <a:t>a-h]am -&gt; ram</a:t>
            </a:r>
          </a:p>
          <a:p>
            <a:r>
              <a:rPr lang="ru-RU" dirty="0"/>
              <a:t>❌ [</a:t>
            </a:r>
            <a:r>
              <a:rPr lang="en-US" dirty="0"/>
              <a:t>a-z]am -&gt; 9am</a:t>
            </a:r>
          </a:p>
          <a:p>
            <a:r>
              <a:rPr lang="ru-RU" dirty="0"/>
              <a:t>❌ [0-9]</a:t>
            </a:r>
            <a:r>
              <a:rPr lang="en-US" dirty="0"/>
              <a:t>am -&gt; ram</a:t>
            </a:r>
          </a:p>
          <a:p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8797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Диапазоны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pl-PL" dirty="0"/>
              <a:t>✔️ [0-9a-z]am -&gt; 9am</a:t>
            </a:r>
          </a:p>
          <a:p>
            <a:r>
              <a:rPr lang="pl-PL" dirty="0"/>
              <a:t>✔️ [0-9a-z]am -&gt; ram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2817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Сокращённые символы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\d для любой цифровой цифры, эквивалентной [0-9]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\w для любого буквенного символа, цифры или подчеркивания, эквивалентного [a-zA-Z0-9_]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\s для любого пробела (может быть символом пробела, символом переноса строки, символом табуляции и так далее)</a:t>
            </a:r>
          </a:p>
        </p:txBody>
      </p:sp>
    </p:spTree>
    <p:extLst>
      <p:ext uri="{BB962C8B-B14F-4D97-AF65-F5344CB8AC3E}">
        <p14:creationId xmlns:p14="http://schemas.microsoft.com/office/powerpoint/2010/main" val="26014327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\d -&gt; 9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\dam -&gt; 9am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\d\d -&gt; 10</a:t>
            </a: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\</a:t>
            </a:r>
            <a:r>
              <a:rPr lang="en-US" b="1" dirty="0">
                <a:solidFill>
                  <a:srgbClr val="00B050"/>
                </a:solidFill>
              </a:rPr>
              <a:t>dam -&gt; dam</a:t>
            </a:r>
          </a:p>
          <a:p>
            <a:r>
              <a:rPr lang="ru-RU" b="1" dirty="0">
                <a:solidFill>
                  <a:srgbClr val="00B050"/>
                </a:solidFill>
              </a:rPr>
              <a:t>❌ \</a:t>
            </a:r>
            <a:r>
              <a:rPr lang="en-US" b="1" dirty="0">
                <a:solidFill>
                  <a:srgbClr val="00B050"/>
                </a:solidFill>
              </a:rPr>
              <a:t>dam -&gt; ram</a:t>
            </a:r>
          </a:p>
          <a:p>
            <a:r>
              <a:rPr lang="ru-RU" b="1" dirty="0">
                <a:solidFill>
                  <a:srgbClr val="00B050"/>
                </a:solidFill>
              </a:rPr>
              <a:t>❌ \</a:t>
            </a:r>
            <a:r>
              <a:rPr lang="en-US" b="1" dirty="0">
                <a:solidFill>
                  <a:srgbClr val="00B050"/>
                </a:solidFill>
              </a:rPr>
              <a:t>d -&gt; m</a:t>
            </a:r>
          </a:p>
          <a:p>
            <a:r>
              <a:rPr lang="ru-RU" b="1" dirty="0">
                <a:solidFill>
                  <a:srgbClr val="00B050"/>
                </a:solidFill>
              </a:rPr>
              <a:t>❌ \</a:t>
            </a:r>
            <a:r>
              <a:rPr lang="en-US" b="1" dirty="0">
                <a:solidFill>
                  <a:srgbClr val="00B050"/>
                </a:solidFill>
              </a:rPr>
              <a:t>d\d -&gt; 1</a:t>
            </a:r>
            <a:endParaRPr lang="ru-RU" b="1" dirty="0">
              <a:solidFill>
                <a:srgbClr val="00B050"/>
              </a:solidFill>
            </a:endParaRP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758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Отрицание набора символов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da-DK" b="1" dirty="0">
                <a:solidFill>
                  <a:srgbClr val="00B050"/>
                </a:solidFill>
              </a:rPr>
              <a:t>✔️ [^cbm]at -&gt; at</a:t>
            </a:r>
          </a:p>
          <a:p>
            <a:r>
              <a:rPr lang="da-DK" b="1" dirty="0">
                <a:solidFill>
                  <a:srgbClr val="00B050"/>
                </a:solidFill>
              </a:rPr>
              <a:t>✔️ [^cbm]at -&gt; rat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da-DK" b="1" dirty="0">
                <a:solidFill>
                  <a:srgbClr val="00B050"/>
                </a:solidFill>
              </a:rPr>
              <a:t>❌ [^cbm]at -&gt; cat</a:t>
            </a:r>
          </a:p>
          <a:p>
            <a:r>
              <a:rPr lang="da-DK" b="1" dirty="0">
                <a:solidFill>
                  <a:srgbClr val="00B050"/>
                </a:solidFill>
              </a:rPr>
              <a:t>❌ [^cbm]at -&gt; bat</a:t>
            </a:r>
          </a:p>
          <a:p>
            <a:r>
              <a:rPr lang="da-DK" b="1" dirty="0">
                <a:solidFill>
                  <a:srgbClr val="00B050"/>
                </a:solidFill>
              </a:rPr>
              <a:t>❌ [^cbm]at -&gt; mat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8229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Произвольное количество символов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ab*c -&gt; ac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ab*c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ab*c -&gt; </a:t>
            </a:r>
            <a:r>
              <a:rPr lang="en-US" b="1" dirty="0" err="1">
                <a:solidFill>
                  <a:srgbClr val="00B050"/>
                </a:solidFill>
              </a:rPr>
              <a:t>abbc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ab*c -&gt; </a:t>
            </a:r>
            <a:r>
              <a:rPr lang="en-US" b="1" dirty="0" err="1">
                <a:solidFill>
                  <a:srgbClr val="00B050"/>
                </a:solidFill>
              </a:rPr>
              <a:t>abbbbbc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a.*c -&gt; ac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a.*c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a.*c -&gt; a123c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a.*c -&gt; a123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9316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Хотя бы один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</a:t>
            </a:r>
            <a:r>
              <a:rPr lang="en-US" b="1" dirty="0" err="1">
                <a:solidFill>
                  <a:srgbClr val="00B050"/>
                </a:solidFill>
              </a:rPr>
              <a:t>ab+c</a:t>
            </a:r>
            <a:r>
              <a:rPr lang="en-US" b="1" dirty="0">
                <a:solidFill>
                  <a:srgbClr val="00B050"/>
                </a:solidFill>
              </a:rPr>
              <a:t>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</a:t>
            </a:r>
            <a:r>
              <a:rPr lang="en-US" b="1" dirty="0" err="1">
                <a:solidFill>
                  <a:srgbClr val="00B050"/>
                </a:solidFill>
              </a:rPr>
              <a:t>ab+c</a:t>
            </a:r>
            <a:r>
              <a:rPr lang="en-US" b="1" dirty="0">
                <a:solidFill>
                  <a:srgbClr val="00B050"/>
                </a:solidFill>
              </a:rPr>
              <a:t> -&gt; </a:t>
            </a:r>
            <a:r>
              <a:rPr lang="en-US" b="1" dirty="0" err="1">
                <a:solidFill>
                  <a:srgbClr val="00B050"/>
                </a:solidFill>
              </a:rPr>
              <a:t>abbc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</a:t>
            </a:r>
            <a:r>
              <a:rPr lang="en-US" b="1" dirty="0" err="1">
                <a:solidFill>
                  <a:srgbClr val="00B050"/>
                </a:solidFill>
              </a:rPr>
              <a:t>ab+c</a:t>
            </a:r>
            <a:r>
              <a:rPr lang="en-US" b="1" dirty="0">
                <a:solidFill>
                  <a:srgbClr val="00B050"/>
                </a:solidFill>
              </a:rPr>
              <a:t> -&gt; </a:t>
            </a:r>
            <a:r>
              <a:rPr lang="en-US" b="1" dirty="0" err="1">
                <a:solidFill>
                  <a:srgbClr val="00B050"/>
                </a:solidFill>
              </a:rPr>
              <a:t>abbbbbc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</a:t>
            </a:r>
            <a:r>
              <a:rPr lang="en-US" b="1" dirty="0" err="1">
                <a:solidFill>
                  <a:srgbClr val="00B050"/>
                </a:solidFill>
              </a:rPr>
              <a:t>a.+c</a:t>
            </a:r>
            <a:r>
              <a:rPr lang="en-US" b="1" dirty="0">
                <a:solidFill>
                  <a:srgbClr val="00B050"/>
                </a:solidFill>
              </a:rPr>
              <a:t>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</a:t>
            </a:r>
            <a:r>
              <a:rPr lang="en-US" b="1" dirty="0" err="1">
                <a:solidFill>
                  <a:srgbClr val="00B050"/>
                </a:solidFill>
              </a:rPr>
              <a:t>a.+c</a:t>
            </a:r>
            <a:r>
              <a:rPr lang="en-US" b="1" dirty="0">
                <a:solidFill>
                  <a:srgbClr val="00B050"/>
                </a:solidFill>
              </a:rPr>
              <a:t> -&gt; a123c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</a:t>
            </a:r>
            <a:r>
              <a:rPr lang="en-US" b="1" dirty="0" err="1">
                <a:solidFill>
                  <a:srgbClr val="00B050"/>
                </a:solidFill>
              </a:rPr>
              <a:t>a.+c</a:t>
            </a:r>
            <a:r>
              <a:rPr lang="en-US" b="1" dirty="0">
                <a:solidFill>
                  <a:srgbClr val="00B050"/>
                </a:solidFill>
              </a:rPr>
              <a:t> -&gt; a123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 err="1">
                <a:solidFill>
                  <a:srgbClr val="00B050"/>
                </a:solidFill>
              </a:rPr>
              <a:t>a.+c</a:t>
            </a:r>
            <a:r>
              <a:rPr lang="en-US" b="1" dirty="0">
                <a:solidFill>
                  <a:srgbClr val="00B050"/>
                </a:solidFill>
              </a:rPr>
              <a:t> -&gt; ac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 err="1">
                <a:solidFill>
                  <a:srgbClr val="00B050"/>
                </a:solidFill>
              </a:rPr>
              <a:t>ab+c</a:t>
            </a:r>
            <a:r>
              <a:rPr lang="en-US" b="1" dirty="0">
                <a:solidFill>
                  <a:srgbClr val="00B050"/>
                </a:solidFill>
              </a:rPr>
              <a:t> -&gt; ac</a:t>
            </a: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08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Повторение заданное количество раз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ab{2}c -&gt; </a:t>
            </a:r>
            <a:r>
              <a:rPr lang="en-US" b="1" dirty="0" err="1">
                <a:solidFill>
                  <a:srgbClr val="00B050"/>
                </a:solidFill>
              </a:rPr>
              <a:t>abbc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a.{2}c -&gt; a12c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ab{2}c -&gt; ac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ab{2}c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ab{2}c -&gt; </a:t>
            </a:r>
            <a:r>
              <a:rPr lang="en-US" b="1" dirty="0" err="1">
                <a:solidFill>
                  <a:srgbClr val="00B050"/>
                </a:solidFill>
              </a:rPr>
              <a:t>abbbc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a.{2}c -&gt; ac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a.{2}c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a.{2}c -&gt; a123c</a:t>
            </a:r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330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Повторение заданное количество раз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]{2}e -&gt; </a:t>
            </a:r>
            <a:r>
              <a:rPr lang="en-US" b="1" dirty="0" err="1">
                <a:solidFill>
                  <a:srgbClr val="00B050"/>
                </a:solidFill>
              </a:rPr>
              <a:t>abce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]{2}e -&gt; </a:t>
            </a:r>
            <a:r>
              <a:rPr lang="en-US" b="1" dirty="0" err="1">
                <a:solidFill>
                  <a:srgbClr val="00B050"/>
                </a:solidFill>
              </a:rPr>
              <a:t>acde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]{2}e -&gt; </a:t>
            </a:r>
            <a:r>
              <a:rPr lang="en-US" b="1" dirty="0" err="1">
                <a:solidFill>
                  <a:srgbClr val="00B050"/>
                </a:solidFill>
              </a:rPr>
              <a:t>abcde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]{2}e -&gt; ae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]{2}e -&gt; </a:t>
            </a:r>
            <a:r>
              <a:rPr lang="en-US" b="1" dirty="0" err="1">
                <a:solidFill>
                  <a:srgbClr val="00B050"/>
                </a:solidFill>
              </a:rPr>
              <a:t>abe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]{2}e -&gt; ace</a:t>
            </a: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8378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Хотя бы несколько повторений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9" y="1814474"/>
            <a:ext cx="10515600" cy="4895850"/>
          </a:xfrm>
        </p:spPr>
        <p:txBody>
          <a:bodyPr>
            <a:normAutofit lnSpcReduction="10000"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ab{2,}c -&gt; </a:t>
            </a:r>
            <a:r>
              <a:rPr lang="en-US" b="1" dirty="0" err="1">
                <a:solidFill>
                  <a:srgbClr val="00B050"/>
                </a:solidFill>
              </a:rPr>
              <a:t>abbc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ab{2,}c -&gt; </a:t>
            </a:r>
            <a:r>
              <a:rPr lang="en-US" b="1" dirty="0" err="1">
                <a:solidFill>
                  <a:srgbClr val="00B050"/>
                </a:solidFill>
              </a:rPr>
              <a:t>abbbc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a.{2,}c -&gt; a12c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a.{2,}c -&gt; a123c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ab{2,}c -&gt; ac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ab{2,}c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a.{2,}c -&gt; ac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a.{2,}c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4962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От до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a.{1,3}c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a.{1,3}c -&gt; a12c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a.{1,3}c -&gt; a123c</a:t>
            </a: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a.{1,3}c -&gt; ac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a.{1,3}c -&gt; a1234c</a:t>
            </a:r>
            <a:endParaRPr lang="ru-RU" b="1" dirty="0">
              <a:solidFill>
                <a:srgbClr val="00B050"/>
              </a:solidFill>
            </a:endParaRP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548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От до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]{1,3}e -&gt; </a:t>
            </a:r>
            <a:r>
              <a:rPr lang="en-US" b="1" dirty="0" err="1">
                <a:solidFill>
                  <a:srgbClr val="00B050"/>
                </a:solidFill>
              </a:rPr>
              <a:t>abe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]{1,3}e -&gt; ace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]{1,3}e -&gt; </a:t>
            </a:r>
            <a:r>
              <a:rPr lang="en-US" b="1" dirty="0" err="1">
                <a:solidFill>
                  <a:srgbClr val="00B050"/>
                </a:solidFill>
              </a:rPr>
              <a:t>abce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]{1,3}e -&gt; </a:t>
            </a:r>
            <a:r>
              <a:rPr lang="en-US" b="1" dirty="0" err="1">
                <a:solidFill>
                  <a:srgbClr val="00B050"/>
                </a:solidFill>
              </a:rPr>
              <a:t>acde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]{1,3}e -&gt; </a:t>
            </a:r>
            <a:r>
              <a:rPr lang="en-US" b="1" dirty="0" err="1">
                <a:solidFill>
                  <a:srgbClr val="00B050"/>
                </a:solidFill>
              </a:rPr>
              <a:t>abcde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]{1,3}e -&gt; ae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]{1,3}e -&gt; </a:t>
            </a:r>
            <a:r>
              <a:rPr lang="en-US" b="1" dirty="0" err="1">
                <a:solidFill>
                  <a:srgbClr val="00B050"/>
                </a:solidFill>
              </a:rPr>
              <a:t>abbcde</a:t>
            </a:r>
            <a:endParaRPr lang="ru-RU" b="1" dirty="0">
              <a:solidFill>
                <a:srgbClr val="00B050"/>
              </a:solidFill>
            </a:endParaRP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4777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Повторение символов с помощью сокращённой записи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the\</a:t>
            </a:r>
            <a:r>
              <a:rPr lang="en-US" b="1" dirty="0" err="1">
                <a:solidFill>
                  <a:srgbClr val="00B050"/>
                </a:solidFill>
              </a:rPr>
              <a:t>s+cat</a:t>
            </a:r>
            <a:r>
              <a:rPr lang="en-US" b="1" dirty="0">
                <a:solidFill>
                  <a:srgbClr val="00B050"/>
                </a:solidFill>
              </a:rPr>
              <a:t> -&gt; the cat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the\</a:t>
            </a:r>
            <a:r>
              <a:rPr lang="en-US" b="1" dirty="0" err="1">
                <a:solidFill>
                  <a:srgbClr val="00B050"/>
                </a:solidFill>
              </a:rPr>
              <a:t>s+cat</a:t>
            </a:r>
            <a:r>
              <a:rPr lang="en-US" b="1" dirty="0">
                <a:solidFill>
                  <a:srgbClr val="00B050"/>
                </a:solidFill>
              </a:rPr>
              <a:t> -&gt; the    cat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c\w*t -&gt; </a:t>
            </a:r>
            <a:r>
              <a:rPr lang="en-US" b="1" dirty="0" err="1">
                <a:solidFill>
                  <a:srgbClr val="00B050"/>
                </a:solidFill>
              </a:rPr>
              <a:t>ct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c\w*t -&gt; cat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c\w*t -&gt; coat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\d{2} -&gt; 10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c\w*t -&gt; c5t</a:t>
            </a:r>
          </a:p>
          <a:p>
            <a:r>
              <a:rPr lang="ru-RU" b="1" dirty="0">
                <a:solidFill>
                  <a:srgbClr val="00B050"/>
                </a:solidFill>
              </a:rPr>
              <a:t>❌ \</a:t>
            </a:r>
            <a:r>
              <a:rPr lang="en-US" b="1" dirty="0">
                <a:solidFill>
                  <a:srgbClr val="00B050"/>
                </a:solidFill>
              </a:rPr>
              <a:t>d{2} -&gt; 1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the\</a:t>
            </a:r>
            <a:r>
              <a:rPr lang="en-US" b="1" dirty="0" err="1">
                <a:solidFill>
                  <a:srgbClr val="00B050"/>
                </a:solidFill>
              </a:rPr>
              <a:t>s+cat</a:t>
            </a:r>
            <a:r>
              <a:rPr lang="en-US" b="1" dirty="0">
                <a:solidFill>
                  <a:srgbClr val="00B050"/>
                </a:solidFill>
              </a:rPr>
              <a:t> -&gt; </a:t>
            </a:r>
            <a:r>
              <a:rPr lang="en-US" b="1" dirty="0" err="1">
                <a:solidFill>
                  <a:srgbClr val="00B050"/>
                </a:solidFill>
              </a:rPr>
              <a:t>thecat</a:t>
            </a:r>
            <a:endParaRPr lang="en-US" b="1" dirty="0">
              <a:solidFill>
                <a:srgbClr val="00B050"/>
              </a:solidFill>
            </a:endParaRP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7584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3B3E4-8B90-3C8F-CBE7-9AC8B208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2C0663-44DC-C30B-AD14-924C73686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Input{"Hello There"};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std::regex Pattern{"Hello There"};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</a:t>
            </a:r>
            <a:r>
              <a:rPr lang="en-US" sz="2000" dirty="0" err="1">
                <a:latin typeface="Consolas" panose="020B0609020204030204" pitchFamily="49" charset="0"/>
              </a:rPr>
              <a:t>smatch</a:t>
            </a:r>
            <a:r>
              <a:rPr lang="en-US" sz="2000" dirty="0">
                <a:latin typeface="Consolas" panose="020B0609020204030204" pitchFamily="49" charset="0"/>
              </a:rPr>
              <a:t> Match;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if (std::</a:t>
            </a:r>
            <a:r>
              <a:rPr lang="en-US" sz="2000" dirty="0" err="1">
                <a:latin typeface="Consolas" panose="020B0609020204030204" pitchFamily="49" charset="0"/>
              </a:rPr>
              <a:t>regex_search</a:t>
            </a:r>
            <a:r>
              <a:rPr lang="en-US" sz="2000" dirty="0">
                <a:latin typeface="Consolas" panose="020B0609020204030204" pitchFamily="49" charset="0"/>
              </a:rPr>
              <a:t>(Input, Match, Pattern))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</a:t>
            </a:r>
            <a:r>
              <a:rPr lang="en-US" sz="2000" dirty="0" err="1">
                <a:latin typeface="Consolas" panose="020B0609020204030204" pitchFamily="49" charset="0"/>
              </a:rPr>
              <a:t>Match.size</a:t>
            </a:r>
            <a:r>
              <a:rPr lang="en-US" sz="2000" dirty="0">
                <a:latin typeface="Consolas" panose="020B0609020204030204" pitchFamily="49" charset="0"/>
              </a:rPr>
              <a:t>()&lt;&lt; " sub-match found!";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for (auto </a:t>
            </a:r>
            <a:r>
              <a:rPr lang="en-US" sz="2000" dirty="0" err="1">
                <a:latin typeface="Consolas" panose="020B0609020204030204" pitchFamily="49" charset="0"/>
              </a:rPr>
              <a:t>Submatch</a:t>
            </a:r>
            <a:r>
              <a:rPr lang="en-US" sz="2000" dirty="0">
                <a:latin typeface="Consolas" panose="020B0609020204030204" pitchFamily="49" charset="0"/>
              </a:rPr>
              <a:t> : Match) 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"\</a:t>
            </a:r>
            <a:r>
              <a:rPr lang="en-US" sz="2000" dirty="0" err="1">
                <a:latin typeface="Consolas" panose="020B0609020204030204" pitchFamily="49" charset="0"/>
              </a:rPr>
              <a:t>nSubmatch</a:t>
            </a:r>
            <a:r>
              <a:rPr lang="en-US" sz="2000" dirty="0">
                <a:latin typeface="Consolas" panose="020B0609020204030204" pitchFamily="49" charset="0"/>
              </a:rPr>
              <a:t>: " &lt;&lt; </a:t>
            </a:r>
            <a:r>
              <a:rPr lang="en-US" sz="2000" dirty="0" err="1">
                <a:latin typeface="Consolas" panose="020B0609020204030204" pitchFamily="49" charset="0"/>
              </a:rPr>
              <a:t>Submatch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r>
              <a:rPr lang="en-US" sz="2000" b="1" i="1" dirty="0">
                <a:latin typeface="Consolas" panose="020B0609020204030204" pitchFamily="49" charset="0"/>
              </a:rPr>
              <a:t>Output: Hello There</a:t>
            </a:r>
            <a:endParaRPr lang="ru-RU" sz="2000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5347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Input{"Hi All"};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std::regex Pattern{"(</a:t>
            </a:r>
            <a:r>
              <a:rPr lang="en-US" sz="2000" dirty="0" err="1">
                <a:latin typeface="Consolas" panose="020B0609020204030204" pitchFamily="49" charset="0"/>
              </a:rPr>
              <a:t>Hello|Hi</a:t>
            </a:r>
            <a:r>
              <a:rPr lang="en-US" sz="2000" dirty="0">
                <a:latin typeface="Consolas" panose="020B0609020204030204" pitchFamily="49" charset="0"/>
              </a:rPr>
              <a:t>) (</a:t>
            </a:r>
            <a:r>
              <a:rPr lang="en-US" sz="2000" dirty="0" err="1">
                <a:latin typeface="Consolas" panose="020B0609020204030204" pitchFamily="49" charset="0"/>
              </a:rPr>
              <a:t>There|All</a:t>
            </a:r>
            <a:r>
              <a:rPr lang="en-US" sz="2000" dirty="0">
                <a:latin typeface="Consolas" panose="020B0609020204030204" pitchFamily="49" charset="0"/>
              </a:rPr>
              <a:t>)"};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</a:t>
            </a:r>
            <a:r>
              <a:rPr lang="en-US" sz="2000" dirty="0" err="1">
                <a:latin typeface="Consolas" panose="020B0609020204030204" pitchFamily="49" charset="0"/>
              </a:rPr>
              <a:t>smatch</a:t>
            </a:r>
            <a:r>
              <a:rPr lang="en-US" sz="2000" dirty="0">
                <a:latin typeface="Consolas" panose="020B0609020204030204" pitchFamily="49" charset="0"/>
              </a:rPr>
              <a:t> Match;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if (std::</a:t>
            </a:r>
            <a:r>
              <a:rPr lang="en-US" sz="2000" dirty="0" err="1">
                <a:latin typeface="Consolas" panose="020B0609020204030204" pitchFamily="49" charset="0"/>
              </a:rPr>
              <a:t>regex_search</a:t>
            </a:r>
            <a:r>
              <a:rPr lang="en-US" sz="2000" dirty="0">
                <a:latin typeface="Consolas" panose="020B0609020204030204" pitchFamily="49" charset="0"/>
              </a:rPr>
              <a:t>(Input, Match,</a:t>
            </a:r>
            <a:r>
              <a:rPr lang="ru-RU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Pattern))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</a:t>
            </a:r>
            <a:r>
              <a:rPr lang="en-US" sz="2000" dirty="0" err="1">
                <a:latin typeface="Consolas" panose="020B0609020204030204" pitchFamily="49" charset="0"/>
              </a:rPr>
              <a:t>Match.size</a:t>
            </a:r>
            <a:r>
              <a:rPr lang="en-US" sz="2000" dirty="0">
                <a:latin typeface="Consolas" panose="020B0609020204030204" pitchFamily="49" charset="0"/>
              </a:rPr>
              <a:t>()</a:t>
            </a:r>
            <a:r>
              <a:rPr lang="ru-RU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&lt;&lt; " </a:t>
            </a:r>
            <a:r>
              <a:rPr lang="en-US" sz="2000" dirty="0" err="1">
                <a:latin typeface="Consolas" panose="020B0609020204030204" pitchFamily="49" charset="0"/>
              </a:rPr>
              <a:t>submatches</a:t>
            </a:r>
            <a:r>
              <a:rPr lang="en-US" sz="2000" dirty="0">
                <a:latin typeface="Consolas" panose="020B0609020204030204" pitchFamily="49" charset="0"/>
              </a:rPr>
              <a:t> found!";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for (auto </a:t>
            </a:r>
            <a:r>
              <a:rPr lang="en-US" sz="2000" dirty="0" err="1">
                <a:latin typeface="Consolas" panose="020B0609020204030204" pitchFamily="49" charset="0"/>
              </a:rPr>
              <a:t>Submatch</a:t>
            </a:r>
            <a:r>
              <a:rPr lang="en-US" sz="2000" dirty="0">
                <a:latin typeface="Consolas" panose="020B0609020204030204" pitchFamily="49" charset="0"/>
              </a:rPr>
              <a:t> : Match)</a:t>
            </a:r>
            <a:r>
              <a:rPr lang="ru-RU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"\</a:t>
            </a:r>
            <a:r>
              <a:rPr lang="en-US" sz="2000" dirty="0" err="1">
                <a:latin typeface="Consolas" panose="020B0609020204030204" pitchFamily="49" charset="0"/>
              </a:rPr>
              <a:t>nSubmatch</a:t>
            </a:r>
            <a:r>
              <a:rPr lang="en-US" sz="2000" dirty="0">
                <a:latin typeface="Consolas" panose="020B0609020204030204" pitchFamily="49" charset="0"/>
              </a:rPr>
              <a:t>: " &lt;&lt; </a:t>
            </a:r>
            <a:r>
              <a:rPr lang="en-US" sz="2000" dirty="0" err="1">
                <a:latin typeface="Consolas" panose="020B0609020204030204" pitchFamily="49" charset="0"/>
              </a:rPr>
              <a:t>Submatch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ru-RU" sz="2000" dirty="0">
              <a:latin typeface="Consolas" panose="020B0609020204030204" pitchFamily="49" charset="0"/>
            </a:endParaRPr>
          </a:p>
          <a:p>
            <a:r>
              <a:rPr lang="en-US" sz="2000" b="1" i="1" dirty="0">
                <a:latin typeface="Consolas" panose="020B0609020204030204" pitchFamily="49" charset="0"/>
              </a:rPr>
              <a:t>3 </a:t>
            </a:r>
            <a:r>
              <a:rPr lang="en-US" sz="2000" b="1" i="1" dirty="0" err="1">
                <a:latin typeface="Consolas" panose="020B0609020204030204" pitchFamily="49" charset="0"/>
              </a:rPr>
              <a:t>submatches</a:t>
            </a:r>
            <a:r>
              <a:rPr lang="en-US" sz="2000" b="1" i="1" dirty="0">
                <a:latin typeface="Consolas" panose="020B0609020204030204" pitchFamily="49" charset="0"/>
              </a:rPr>
              <a:t> found!</a:t>
            </a:r>
          </a:p>
          <a:p>
            <a:r>
              <a:rPr lang="en-US" sz="2000" b="1" i="1" dirty="0" err="1">
                <a:latin typeface="Consolas" panose="020B0609020204030204" pitchFamily="49" charset="0"/>
              </a:rPr>
              <a:t>Submatch</a:t>
            </a:r>
            <a:r>
              <a:rPr lang="en-US" sz="2000" b="1" i="1" dirty="0">
                <a:latin typeface="Consolas" panose="020B0609020204030204" pitchFamily="49" charset="0"/>
              </a:rPr>
              <a:t>: Hi All</a:t>
            </a:r>
          </a:p>
          <a:p>
            <a:r>
              <a:rPr lang="en-US" sz="2000" b="1" i="1" dirty="0" err="1">
                <a:latin typeface="Consolas" panose="020B0609020204030204" pitchFamily="49" charset="0"/>
              </a:rPr>
              <a:t>Submatch</a:t>
            </a:r>
            <a:r>
              <a:rPr lang="en-US" sz="2000" b="1" i="1" dirty="0">
                <a:latin typeface="Consolas" panose="020B0609020204030204" pitchFamily="49" charset="0"/>
              </a:rPr>
              <a:t>: Hi</a:t>
            </a:r>
          </a:p>
          <a:p>
            <a:r>
              <a:rPr lang="en-US" sz="2000" b="1" i="1" dirty="0" err="1">
                <a:latin typeface="Consolas" panose="020B0609020204030204" pitchFamily="49" charset="0"/>
              </a:rPr>
              <a:t>Submatch</a:t>
            </a:r>
            <a:r>
              <a:rPr lang="en-US" sz="2000" b="1" i="1" dirty="0">
                <a:latin typeface="Consolas" panose="020B0609020204030204" pitchFamily="49" charset="0"/>
              </a:rPr>
              <a:t>: All</a:t>
            </a:r>
            <a:endParaRPr lang="ru-RU" sz="2000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5383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49683" cy="4895850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std::string Input{"Hello World"};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std::regex Pattern{"Hello (.*)"};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smatch</a:t>
            </a:r>
            <a:r>
              <a:rPr lang="en-US" dirty="0">
                <a:latin typeface="Consolas" panose="020B0609020204030204" pitchFamily="49" charset="0"/>
              </a:rPr>
              <a:t> Matches;</a:t>
            </a:r>
          </a:p>
          <a:p>
            <a:r>
              <a:rPr lang="en-US" dirty="0">
                <a:latin typeface="Consolas" panose="020B0609020204030204" pitchFamily="49" charset="0"/>
              </a:rPr>
              <a:t>  if (std::</a:t>
            </a:r>
            <a:r>
              <a:rPr lang="en-US" dirty="0" err="1">
                <a:latin typeface="Consolas" panose="020B0609020204030204" pitchFamily="49" charset="0"/>
              </a:rPr>
              <a:t>regex_search</a:t>
            </a:r>
            <a:r>
              <a:rPr lang="en-US" dirty="0">
                <a:latin typeface="Consolas" panose="020B0609020204030204" pitchFamily="49" charset="0"/>
              </a:rPr>
              <a:t>(Input, Matches, Pattern)) {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</a:t>
            </a:r>
            <a:r>
              <a:rPr lang="en-US" dirty="0" err="1">
                <a:latin typeface="Consolas" panose="020B0609020204030204" pitchFamily="49" charset="0"/>
              </a:rPr>
              <a:t>Matches.size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&lt;&lt; " </a:t>
            </a:r>
            <a:r>
              <a:rPr lang="en-US" dirty="0" err="1">
                <a:latin typeface="Consolas" panose="020B0609020204030204" pitchFamily="49" charset="0"/>
              </a:rPr>
              <a:t>submatches</a:t>
            </a:r>
            <a:r>
              <a:rPr lang="en-US" dirty="0">
                <a:latin typeface="Consolas" panose="020B0609020204030204" pitchFamily="49" charset="0"/>
              </a:rPr>
              <a:t> found!";</a:t>
            </a:r>
          </a:p>
          <a:p>
            <a:r>
              <a:rPr lang="en-US" dirty="0">
                <a:latin typeface="Consolas" panose="020B0609020204030204" pitchFamily="49" charset="0"/>
              </a:rPr>
              <a:t>    for (</a:t>
            </a:r>
            <a:r>
              <a:rPr lang="en-US" dirty="0" err="1">
                <a:latin typeface="Consolas" panose="020B0609020204030204" pitchFamily="49" charset="0"/>
              </a:rPr>
              <a:t>size_t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{0};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&lt; </a:t>
            </a:r>
            <a:r>
              <a:rPr lang="en-US" dirty="0" err="1">
                <a:latin typeface="Consolas" panose="020B0609020204030204" pitchFamily="49" charset="0"/>
              </a:rPr>
              <a:t>Matches.size</a:t>
            </a:r>
            <a:r>
              <a:rPr lang="en-US" dirty="0">
                <a:latin typeface="Consolas" panose="020B0609020204030204" pitchFamily="49" charset="0"/>
              </a:rPr>
              <a:t>(); ++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"\n\</a:t>
            </a:r>
            <a:r>
              <a:rPr lang="en-US" dirty="0" err="1">
                <a:latin typeface="Consolas" panose="020B0609020204030204" pitchFamily="49" charset="0"/>
              </a:rPr>
              <a:t>nSubmatch</a:t>
            </a:r>
            <a:r>
              <a:rPr lang="en-US" dirty="0">
                <a:latin typeface="Consolas" panose="020B0609020204030204" pitchFamily="49" charset="0"/>
              </a:rPr>
              <a:t> " &lt;&lt; I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&lt;&lt; </a:t>
            </a:r>
          </a:p>
          <a:p>
            <a:r>
              <a:rPr lang="en-US" dirty="0">
                <a:latin typeface="Consolas" panose="020B0609020204030204" pitchFamily="49" charset="0"/>
              </a:rPr>
              <a:t>	Matches[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&lt;&lt; "\n  Length: "&lt;&lt; Matches[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].length()</a:t>
            </a:r>
          </a:p>
          <a:p>
            <a:r>
              <a:rPr lang="en-US" dirty="0">
                <a:latin typeface="Consolas" panose="020B0609020204030204" pitchFamily="49" charset="0"/>
              </a:rPr>
              <a:t>	&lt;&lt; "\n  First Character: “ &lt;&lt; *Matches[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].first &lt;&lt; "\n  Position: “ </a:t>
            </a:r>
          </a:p>
          <a:p>
            <a:r>
              <a:rPr lang="en-US" dirty="0">
                <a:latin typeface="Consolas" panose="020B0609020204030204" pitchFamily="49" charset="0"/>
              </a:rPr>
              <a:t>	&lt;&lt;</a:t>
            </a:r>
            <a:r>
              <a:rPr lang="en-US" dirty="0" err="1">
                <a:latin typeface="Consolas" panose="020B0609020204030204" pitchFamily="49" charset="0"/>
              </a:rPr>
              <a:t>Matches.position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C281B-914F-1C5D-3EE0-20A2A4E2B8CA}"/>
              </a:ext>
            </a:extLst>
          </p:cNvPr>
          <p:cNvSpPr txBox="1"/>
          <p:nvPr/>
        </p:nvSpPr>
        <p:spPr>
          <a:xfrm>
            <a:off x="8987883" y="2120030"/>
            <a:ext cx="32115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2 </a:t>
            </a:r>
            <a:r>
              <a:rPr lang="en-US" b="1" dirty="0" err="1">
                <a:latin typeface="Consolas" panose="020B0609020204030204" pitchFamily="49" charset="0"/>
              </a:rPr>
              <a:t>submatches</a:t>
            </a:r>
            <a:r>
              <a:rPr lang="en-US" b="1" dirty="0">
                <a:latin typeface="Consolas" panose="020B0609020204030204" pitchFamily="49" charset="0"/>
              </a:rPr>
              <a:t> found!</a:t>
            </a:r>
          </a:p>
          <a:p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 0: Hello World</a:t>
            </a:r>
          </a:p>
          <a:p>
            <a:r>
              <a:rPr lang="en-US" b="1" dirty="0">
                <a:latin typeface="Consolas" panose="020B0609020204030204" pitchFamily="49" charset="0"/>
              </a:rPr>
              <a:t>  Length: 11</a:t>
            </a:r>
          </a:p>
          <a:p>
            <a:r>
              <a:rPr lang="en-US" b="1" dirty="0">
                <a:latin typeface="Consolas" panose="020B0609020204030204" pitchFamily="49" charset="0"/>
              </a:rPr>
              <a:t>  First Character: H</a:t>
            </a:r>
          </a:p>
          <a:p>
            <a:r>
              <a:rPr lang="en-US" b="1" dirty="0">
                <a:latin typeface="Consolas" panose="020B0609020204030204" pitchFamily="49" charset="0"/>
              </a:rPr>
              <a:t>  Position: 0</a:t>
            </a:r>
          </a:p>
          <a:p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 1: World</a:t>
            </a:r>
          </a:p>
          <a:p>
            <a:r>
              <a:rPr lang="en-US" b="1" dirty="0">
                <a:latin typeface="Consolas" panose="020B0609020204030204" pitchFamily="49" charset="0"/>
              </a:rPr>
              <a:t>  Length: 5</a:t>
            </a:r>
          </a:p>
          <a:p>
            <a:r>
              <a:rPr lang="en-US" b="1" dirty="0">
                <a:latin typeface="Consolas" panose="020B0609020204030204" pitchFamily="49" charset="0"/>
              </a:rPr>
              <a:t>  First Character: W</a:t>
            </a:r>
          </a:p>
          <a:p>
            <a:r>
              <a:rPr lang="en-US" b="1" dirty="0">
                <a:latin typeface="Consolas" panose="020B0609020204030204" pitchFamily="49" charset="0"/>
              </a:rPr>
              <a:t>  Position: 6</a:t>
            </a:r>
            <a:endParaRPr lang="ru-RU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2014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49683" cy="4895850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std::string Input{"Hello World, Goodbye World"};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std::regex Pattern{"(</a:t>
            </a:r>
            <a:r>
              <a:rPr lang="en-US" dirty="0" err="1">
                <a:latin typeface="Consolas" panose="020B0609020204030204" pitchFamily="49" charset="0"/>
              </a:rPr>
              <a:t>Hello|Goodbye</a:t>
            </a:r>
            <a:r>
              <a:rPr lang="en-US" dirty="0">
                <a:latin typeface="Consolas" panose="020B0609020204030204" pitchFamily="49" charset="0"/>
              </a:rPr>
              <a:t>) (</a:t>
            </a:r>
            <a:r>
              <a:rPr lang="en-US" dirty="0" err="1">
                <a:latin typeface="Consolas" panose="020B0609020204030204" pitchFamily="49" charset="0"/>
              </a:rPr>
              <a:t>World|Everyone</a:t>
            </a:r>
            <a:r>
              <a:rPr lang="en-US" dirty="0">
                <a:latin typeface="Consolas" panose="020B0609020204030204" pitchFamily="49" charset="0"/>
              </a:rPr>
              <a:t>)"};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sregex_iterator</a:t>
            </a:r>
            <a:r>
              <a:rPr lang="en-US" dirty="0">
                <a:latin typeface="Consolas" panose="020B0609020204030204" pitchFamily="49" charset="0"/>
              </a:rPr>
              <a:t> Iterator{</a:t>
            </a:r>
            <a:r>
              <a:rPr lang="en-US" dirty="0" err="1">
                <a:latin typeface="Consolas" panose="020B0609020204030204" pitchFamily="49" charset="0"/>
              </a:rPr>
              <a:t>Input.begin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Input.end</a:t>
            </a:r>
            <a:r>
              <a:rPr lang="en-US" dirty="0">
                <a:latin typeface="Consolas" panose="020B0609020204030204" pitchFamily="49" charset="0"/>
              </a:rPr>
              <a:t>(), Pattern};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sregex_iterator</a:t>
            </a:r>
            <a:r>
              <a:rPr lang="en-US" dirty="0">
                <a:latin typeface="Consolas" panose="020B0609020204030204" pitchFamily="49" charset="0"/>
              </a:rPr>
              <a:t> End;</a:t>
            </a:r>
          </a:p>
          <a:p>
            <a:r>
              <a:rPr lang="en-US" dirty="0">
                <a:latin typeface="Consolas" panose="020B0609020204030204" pitchFamily="49" charset="0"/>
              </a:rPr>
              <a:t>  while (Iterator != End) {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"Match";</a:t>
            </a:r>
          </a:p>
          <a:p>
            <a:r>
              <a:rPr lang="en-US" dirty="0">
                <a:latin typeface="Consolas" panose="020B0609020204030204" pitchFamily="49" charset="0"/>
              </a:rPr>
              <a:t>    for (auto Match : *Iterator) {</a:t>
            </a:r>
          </a:p>
          <a:p>
            <a:r>
              <a:rPr lang="en-US" dirty="0">
                <a:latin typeface="Consolas" panose="020B0609020204030204" pitchFamily="49" charset="0"/>
              </a:rPr>
              <a:t>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"\n  </a:t>
            </a:r>
            <a:r>
              <a:rPr lang="en-US" dirty="0" err="1">
                <a:latin typeface="Consolas" panose="020B0609020204030204" pitchFamily="49" charset="0"/>
              </a:rPr>
              <a:t>Submatch</a:t>
            </a:r>
            <a:r>
              <a:rPr lang="en-US" dirty="0">
                <a:latin typeface="Consolas" panose="020B0609020204030204" pitchFamily="49" charset="0"/>
              </a:rPr>
              <a:t>: " &lt;&lt; Match;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"\n\n";</a:t>
            </a:r>
          </a:p>
          <a:p>
            <a:r>
              <a:rPr lang="en-US" dirty="0">
                <a:latin typeface="Consolas" panose="020B0609020204030204" pitchFamily="49" charset="0"/>
              </a:rPr>
              <a:t>    ++Iterator;</a:t>
            </a:r>
          </a:p>
          <a:p>
            <a:r>
              <a:rPr lang="en-US" dirty="0">
                <a:latin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C281B-914F-1C5D-3EE0-20A2A4E2B8CA}"/>
              </a:ext>
            </a:extLst>
          </p:cNvPr>
          <p:cNvSpPr txBox="1"/>
          <p:nvPr/>
        </p:nvSpPr>
        <p:spPr>
          <a:xfrm>
            <a:off x="8184995" y="2120030"/>
            <a:ext cx="40144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Match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Hello World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Hello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World</a:t>
            </a:r>
          </a:p>
          <a:p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Match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Goodbye World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Goodbye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World</a:t>
            </a:r>
            <a:endParaRPr lang="ru-RU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1116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49683" cy="4895850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std::string Input{"Hello World, Goodbye Everyone"};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std::regex Pattern{"(</a:t>
            </a:r>
            <a:r>
              <a:rPr lang="en-US" dirty="0" err="1">
                <a:latin typeface="Consolas" panose="020B0609020204030204" pitchFamily="49" charset="0"/>
              </a:rPr>
              <a:t>Hello|Goodbye</a:t>
            </a:r>
            <a:r>
              <a:rPr lang="en-US" dirty="0">
                <a:latin typeface="Consolas" panose="020B0609020204030204" pitchFamily="49" charset="0"/>
              </a:rPr>
              <a:t>) (</a:t>
            </a:r>
            <a:r>
              <a:rPr lang="en-US" dirty="0" err="1">
                <a:latin typeface="Consolas" panose="020B0609020204030204" pitchFamily="49" charset="0"/>
              </a:rPr>
              <a:t>World|Everyone</a:t>
            </a:r>
            <a:r>
              <a:rPr lang="en-US" dirty="0">
                <a:latin typeface="Consolas" panose="020B0609020204030204" pitchFamily="49" charset="0"/>
              </a:rPr>
              <a:t>)"};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sregex_token_iterator</a:t>
            </a:r>
            <a:r>
              <a:rPr lang="en-US" dirty="0">
                <a:latin typeface="Consolas" panose="020B0609020204030204" pitchFamily="49" charset="0"/>
              </a:rPr>
              <a:t> Iterator{</a:t>
            </a:r>
          </a:p>
          <a:p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 err="1">
                <a:latin typeface="Consolas" panose="020B0609020204030204" pitchFamily="49" charset="0"/>
              </a:rPr>
              <a:t>Input.begin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Input.end</a:t>
            </a:r>
            <a:r>
              <a:rPr lang="en-US" dirty="0">
                <a:latin typeface="Consolas" panose="020B0609020204030204" pitchFamily="49" charset="0"/>
              </a:rPr>
              <a:t>(), Pattern};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sregex_token_iterator</a:t>
            </a:r>
            <a:r>
              <a:rPr lang="en-US" dirty="0">
                <a:latin typeface="Consolas" panose="020B0609020204030204" pitchFamily="49" charset="0"/>
              </a:rPr>
              <a:t> End;</a:t>
            </a:r>
          </a:p>
          <a:p>
            <a:r>
              <a:rPr lang="en-US" dirty="0">
                <a:latin typeface="Consolas" panose="020B0609020204030204" pitchFamily="49" charset="0"/>
              </a:rPr>
              <a:t>  while (Iterator != End) {</a:t>
            </a:r>
          </a:p>
          <a:p>
            <a:r>
              <a:rPr lang="en-US" dirty="0">
                <a:latin typeface="Consolas" panose="020B0609020204030204" pitchFamily="49" charset="0"/>
              </a:rPr>
              <a:t>    auto res = (*Iterator);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"\</a:t>
            </a:r>
            <a:r>
              <a:rPr lang="en-US" dirty="0" err="1">
                <a:latin typeface="Consolas" panose="020B0609020204030204" pitchFamily="49" charset="0"/>
              </a:rPr>
              <a:t>nSubmatch</a:t>
            </a:r>
            <a:r>
              <a:rPr lang="en-US" dirty="0">
                <a:latin typeface="Consolas" panose="020B0609020204030204" pitchFamily="49" charset="0"/>
              </a:rPr>
              <a:t>: " &lt;&lt; (*Iterator);</a:t>
            </a:r>
          </a:p>
          <a:p>
            <a:r>
              <a:rPr lang="en-US" dirty="0">
                <a:latin typeface="Consolas" panose="020B0609020204030204" pitchFamily="49" charset="0"/>
              </a:rPr>
              <a:t>    ++Iterator;</a:t>
            </a:r>
          </a:p>
          <a:p>
            <a:r>
              <a:rPr lang="en-US" dirty="0">
                <a:latin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C281B-914F-1C5D-3EE0-20A2A4E2B8CA}"/>
              </a:ext>
            </a:extLst>
          </p:cNvPr>
          <p:cNvSpPr txBox="1"/>
          <p:nvPr/>
        </p:nvSpPr>
        <p:spPr>
          <a:xfrm>
            <a:off x="8586439" y="5721874"/>
            <a:ext cx="4014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Hello World</a:t>
            </a:r>
          </a:p>
          <a:p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Goodbye Everyone</a:t>
            </a:r>
            <a:endParaRPr lang="ru-RU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9954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std::regex Pattern{"(</a:t>
            </a:r>
            <a:r>
              <a:rPr lang="en-US" sz="2400" dirty="0" err="1">
                <a:latin typeface="Consolas" panose="020B0609020204030204" pitchFamily="49" charset="0"/>
              </a:rPr>
              <a:t>Hello|Goodbye</a:t>
            </a:r>
            <a:r>
              <a:rPr lang="en-US" sz="2400" dirty="0">
                <a:latin typeface="Consolas" panose="020B0609020204030204" pitchFamily="49" charset="0"/>
              </a:rPr>
              <a:t>) (</a:t>
            </a:r>
            <a:r>
              <a:rPr lang="en-US" sz="2400" dirty="0" err="1">
                <a:latin typeface="Consolas" panose="020B0609020204030204" pitchFamily="49" charset="0"/>
              </a:rPr>
              <a:t>World|Everyone</a:t>
            </a:r>
            <a:r>
              <a:rPr lang="en-US" sz="2400" dirty="0">
                <a:latin typeface="Consolas" panose="020B0609020204030204" pitchFamily="49" charset="0"/>
              </a:rPr>
              <a:t>)"};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std::</a:t>
            </a:r>
            <a:r>
              <a:rPr lang="en-US" sz="2400" dirty="0" err="1">
                <a:latin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</a:rPr>
              <a:t> &lt;&lt; </a:t>
            </a:r>
            <a:r>
              <a:rPr lang="en-US" sz="2400" dirty="0" err="1">
                <a:latin typeface="Consolas" panose="020B0609020204030204" pitchFamily="49" charset="0"/>
              </a:rPr>
              <a:t>Pattern.mark_count</a:t>
            </a:r>
            <a:r>
              <a:rPr lang="en-US" sz="24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b="1" i="1" dirty="0">
                <a:latin typeface="Consolas" panose="020B0609020204030204" pitchFamily="49" charset="0"/>
              </a:rPr>
              <a:t>Output: 2</a:t>
            </a:r>
            <a:endParaRPr lang="ru-RU" sz="2400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797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std::string Input{"Hello World, Goodbye World"};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std::regex Search{"World"};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std::string Replace{"Everyone"};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std::string Updated{std::</a:t>
            </a:r>
            <a:r>
              <a:rPr lang="en-US" dirty="0" err="1">
                <a:latin typeface="Consolas" panose="020B0609020204030204" pitchFamily="49" charset="0"/>
              </a:rPr>
              <a:t>regex_replace</a:t>
            </a:r>
            <a:r>
              <a:rPr lang="en-US" dirty="0">
                <a:latin typeface="Consolas" panose="020B0609020204030204" pitchFamily="49" charset="0"/>
              </a:rPr>
              <a:t>(Input, Search, Replace)};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"Before: " &lt;&lt; Input&lt;&lt; "\n After: " &lt;&lt; Updated;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Было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b="1" i="1" dirty="0">
                <a:latin typeface="Consolas" panose="020B0609020204030204" pitchFamily="49" charset="0"/>
              </a:rPr>
              <a:t>Hello World, Goodbye World</a:t>
            </a:r>
          </a:p>
          <a:p>
            <a:r>
              <a:rPr lang="ru-RU" dirty="0">
                <a:latin typeface="Consolas" panose="020B0609020204030204" pitchFamily="49" charset="0"/>
              </a:rPr>
              <a:t>Стало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b="1" i="1" dirty="0">
                <a:latin typeface="Consolas" panose="020B0609020204030204" pitchFamily="49" charset="0"/>
              </a:rPr>
              <a:t>Hello Everyone, Goodbye Everyone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181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Input{"email me at bob@gmail.com or bob@yahoo.com"};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std::regex Search{R"(\w*@[\w.]*)"};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Replace{"[redacted]"};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Updated{std::</a:t>
            </a:r>
            <a:r>
              <a:rPr lang="en-US" sz="2000" dirty="0" err="1">
                <a:latin typeface="Consolas" panose="020B0609020204030204" pitchFamily="49" charset="0"/>
              </a:rPr>
              <a:t>regex_replace</a:t>
            </a:r>
            <a:r>
              <a:rPr lang="en-US" sz="2000" dirty="0">
                <a:latin typeface="Consolas" panose="020B0609020204030204" pitchFamily="49" charset="0"/>
              </a:rPr>
              <a:t>(Input, Search, Replace)};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"Before: " &lt;&lt; Input</a:t>
            </a:r>
            <a:r>
              <a:rPr lang="ru-RU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&lt;&lt; "\</a:t>
            </a:r>
            <a:r>
              <a:rPr lang="en-US" sz="2000" dirty="0" err="1">
                <a:latin typeface="Consolas" panose="020B0609020204030204" pitchFamily="49" charset="0"/>
              </a:rPr>
              <a:t>nAfter</a:t>
            </a:r>
            <a:r>
              <a:rPr lang="en-US" sz="2000" dirty="0">
                <a:latin typeface="Consolas" panose="020B0609020204030204" pitchFamily="49" charset="0"/>
              </a:rPr>
              <a:t>: " &lt;&lt; Updated;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ru-RU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Before: </a:t>
            </a:r>
            <a:r>
              <a:rPr lang="en-US" sz="2000" b="1" i="1" dirty="0">
                <a:latin typeface="Consolas" panose="020B0609020204030204" pitchFamily="49" charset="0"/>
              </a:rPr>
              <a:t>email me at bob@gmail.com or bob@yahoo.com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After: </a:t>
            </a:r>
            <a:r>
              <a:rPr lang="en-US" sz="2000" b="1" i="1" dirty="0">
                <a:latin typeface="Consolas" panose="020B0609020204030204" pitchFamily="49" charset="0"/>
              </a:rPr>
              <a:t>email me at [redacted] or [redacted]</a:t>
            </a:r>
            <a:endParaRPr lang="ru-RU" sz="2000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6774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Input{"The name's James Bond"};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std::regex Search{"(The name's) (.*) (.*)"};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Replace{"$1 $3, $2 $3"};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Updated{std::</a:t>
            </a:r>
            <a:r>
              <a:rPr lang="en-US" sz="2000" dirty="0" err="1">
                <a:latin typeface="Consolas" panose="020B0609020204030204" pitchFamily="49" charset="0"/>
              </a:rPr>
              <a:t>regex_replace</a:t>
            </a:r>
            <a:r>
              <a:rPr lang="en-US" sz="2000" dirty="0">
                <a:latin typeface="Consolas" panose="020B0609020204030204" pitchFamily="49" charset="0"/>
              </a:rPr>
              <a:t>(Input, Search, Replace)};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"Before: " &lt;&lt; Input&lt;&lt; "\n After: " &lt;&lt; Updated;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ru-RU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Before: </a:t>
            </a:r>
            <a:r>
              <a:rPr lang="en-US" sz="2000" b="1" i="1" dirty="0">
                <a:latin typeface="Consolas" panose="020B0609020204030204" pitchFamily="49" charset="0"/>
              </a:rPr>
              <a:t>The name's James Bond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After: </a:t>
            </a:r>
            <a:r>
              <a:rPr lang="en-US" sz="2000" b="1" i="1" dirty="0">
                <a:latin typeface="Consolas" panose="020B0609020204030204" pitchFamily="49" charset="0"/>
              </a:rPr>
              <a:t>The name's Bond, James Bond</a:t>
            </a:r>
            <a:endParaRPr lang="ru-RU" sz="2000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4888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3601</Words>
  <Application>Microsoft Office PowerPoint</Application>
  <PresentationFormat>Широкоэкранный</PresentationFormat>
  <Paragraphs>484</Paragraphs>
  <Slides>49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5" baseType="lpstr">
      <vt:lpstr>-apple-system</vt:lpstr>
      <vt:lpstr>Arial</vt:lpstr>
      <vt:lpstr>Calibri</vt:lpstr>
      <vt:lpstr>Consolas</vt:lpstr>
      <vt:lpstr>SFMono-Regular</vt:lpstr>
      <vt:lpstr>Тема Office</vt:lpstr>
      <vt:lpstr>Итераторы и регулярные выражения в языке С++</vt:lpstr>
      <vt:lpstr>Итераторы</vt:lpstr>
      <vt:lpstr>Операции над итераторами</vt:lpstr>
      <vt:lpstr>Операции над итераторами</vt:lpstr>
      <vt:lpstr>Применение итераторов</vt:lpstr>
      <vt:lpstr>Применение итераторов</vt:lpstr>
      <vt:lpstr>Применение итераторов Константные итераторы</vt:lpstr>
      <vt:lpstr>Применение итераторов Реверсивный итератор</vt:lpstr>
      <vt:lpstr>Применение итераторов Итераторы над массивами</vt:lpstr>
      <vt:lpstr>Применение итераторов Итераторы над массивами</vt:lpstr>
      <vt:lpstr>Регулярные выражения Грамматика</vt:lpstr>
      <vt:lpstr>Регулярные выражения Грамматика</vt:lpstr>
      <vt:lpstr>Регулярные выражения Грамматика</vt:lpstr>
      <vt:lpstr>Регулярные выражения С++</vt:lpstr>
      <vt:lpstr>Регулярные выражения</vt:lpstr>
      <vt:lpstr>Регулярные выражения Примеры</vt:lpstr>
      <vt:lpstr>Регулярные выражения Примеры</vt:lpstr>
      <vt:lpstr>Регулярные выражения Подстановка</vt:lpstr>
      <vt:lpstr>Регулярные выражения Подстановка</vt:lpstr>
      <vt:lpstr>Регулярные выражения Чередование</vt:lpstr>
      <vt:lpstr>Регулярные выражения Необязательный символ</vt:lpstr>
      <vt:lpstr>Регулярные выражения Начало строки</vt:lpstr>
      <vt:lpstr>Регулярные выражения Конец строки</vt:lpstr>
      <vt:lpstr>Регулярные выражения Комбинация условий</vt:lpstr>
      <vt:lpstr>Регулярные выражения Экранирование спец. символов</vt:lpstr>
      <vt:lpstr>Регулярные выражения Наборы символов</vt:lpstr>
      <vt:lpstr>Регулярные выражения Наборы символов</vt:lpstr>
      <vt:lpstr>Регулярные выражения Диапазоны</vt:lpstr>
      <vt:lpstr>Регулярные выражения Диапазоны</vt:lpstr>
      <vt:lpstr>Регулярные выражения Сокращённые символы</vt:lpstr>
      <vt:lpstr>Регулярные выражения </vt:lpstr>
      <vt:lpstr>Регулярные выражения Отрицание набора символов</vt:lpstr>
      <vt:lpstr>Регулярные выражения Произвольное количество символов</vt:lpstr>
      <vt:lpstr>Регулярные выражения Хотя бы один</vt:lpstr>
      <vt:lpstr>Регулярные выражения Повторение заданное количество раз</vt:lpstr>
      <vt:lpstr>Регулярные выражения Повторение заданное количество раз</vt:lpstr>
      <vt:lpstr>Регулярные выражения Хотя бы несколько повторений</vt:lpstr>
      <vt:lpstr>Регулярные выражения От до</vt:lpstr>
      <vt:lpstr>Регулярные выражения От до</vt:lpstr>
      <vt:lpstr>Регулярные выражения Повторение символов с помощью сокращённой записи</vt:lpstr>
      <vt:lpstr>Регулярные выражения Практика</vt:lpstr>
      <vt:lpstr>Регулярные выражения Практика</vt:lpstr>
      <vt:lpstr>Регулярные выражения Практика</vt:lpstr>
      <vt:lpstr>Регулярные выражения Практика</vt:lpstr>
      <vt:lpstr>Регулярные выражения Практика</vt:lpstr>
      <vt:lpstr>Регулярные выражения Практика</vt:lpstr>
      <vt:lpstr>Регулярные выражения Практика</vt:lpstr>
      <vt:lpstr>Регулярные выражения Практика</vt:lpstr>
      <vt:lpstr>Регулярные выражения Практика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Петров</dc:creator>
  <cp:lastModifiedBy>Иван Петров</cp:lastModifiedBy>
  <cp:revision>66</cp:revision>
  <dcterms:created xsi:type="dcterms:W3CDTF">2024-09-02T04:38:38Z</dcterms:created>
  <dcterms:modified xsi:type="dcterms:W3CDTF">2026-08-24T15:21:06Z</dcterms:modified>
</cp:coreProperties>
</file>