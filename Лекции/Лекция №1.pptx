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7" r:id="rId30"/>
    <p:sldId id="286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61" r:id="rId3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0025" autoAdjust="0"/>
  </p:normalViewPr>
  <p:slideViewPr>
    <p:cSldViewPr snapToGrid="0">
      <p:cViewPr varScale="1">
        <p:scale>
          <a:sx n="48" d="100"/>
          <a:sy n="48" d="100"/>
        </p:scale>
        <p:origin x="67" y="5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D7595-FCF4-4099-BD8C-13459FCC7DA5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582645-4708-44BD-8BD9-71C144DEFD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6553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3E67B7-8B86-328F-B7EC-B1BF2A576E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59CDB87-CA93-4BE7-35CF-A0C68EDF3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0E2DA8-8EAF-33A0-3065-C716BF3E1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01D051-4978-EF7F-8C8A-3F244BC2E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B9766E-6D6E-8A4C-658A-B4685CE05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911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902B64-7A03-AC61-9E5C-F4F4D956C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4FDECA-25F9-183C-D3B7-DD5F7B110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585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7809E4-C3AA-7FFF-66D9-82958219E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95A159-D873-5BF8-F8CB-3C05B127A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FD8BDA-8665-8883-9E4D-14AD25E22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9229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431642-8603-DDAE-C5AF-BB3C06858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A25BA09-5383-933C-E291-BDB4B71020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069EBF-C0B5-9EB4-DCC1-9E8BACFF8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32AC16-93B3-1460-E3C7-65580E1A6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7152A2-48DC-5799-2499-17FE61B47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5440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675EDD-FB9F-F045-EE95-10EF9D2F4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C7BC94-00BF-2A5B-BF4D-C38882A643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85A367E-D4A4-00C0-F75B-8C02E2A066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E43EE95-E43A-EB58-34A0-A9DDECDD7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51CE8F9-1034-21B2-38EF-2A8B5C4D1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BEE8E6C-9A75-8F08-58CE-EB938E297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2593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D429E8-D3A7-B63A-2739-1D5705FF4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16582CD-AB3F-25A9-B795-21CDC760E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887405F-9984-D933-744C-463E03AB05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50840FB-509F-F934-5C06-61A5B08526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0BB4397-1D85-C4FA-132E-1D2C7A3938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81F2429-F720-BD98-422E-081D31DB0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B8D6B9B-B5DF-8947-4A97-B1959BB9A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6E5F275-C6C3-C7A7-9B49-AB9241D52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6479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D78BE3-96E3-542D-B866-54D4D5BDD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2AB0066-C93A-CE44-C9C9-8492509E5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D86183F-4A06-0A6D-2439-9920BE59F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4A19C14-09EE-8DA0-35EE-10747B9F0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911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5B0E34C-DF03-FB68-EAB6-2F9E41209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3423B85-5262-79FE-1774-FCA052A99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FB42707-0180-59A5-67BB-165999785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1115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F69A8C-27E6-130A-0F34-2A6C96206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B8BD66-0277-8F15-78C4-39A5EE217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D3E5280-B2C5-EB27-34F2-3D18F3D081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040CD3B-D516-8EF6-49C8-81E522992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E39D0E4-C405-ED24-5E05-503B0046E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BA4DDD1-B00C-597F-82F6-F2A809291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1590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3E39A1-0DED-CE4B-5B62-BD19F0BCC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854D6F2-42E9-3FEA-C6A7-740C51D9DF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8A8E58D-4DAC-4FC8-5B80-7961711AC2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50A013B-DD5C-737D-F0AB-7C157241F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14E4AEB-1CB0-2CFD-BC02-DFD9847A3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B0ABAB9-35CC-F3B8-B086-C857480ED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1274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20FEB8-DA1D-02DC-B5C2-755D52595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708DD26-2A62-77FD-1C83-3B3882EACF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4A89C9-6D79-3B2C-6B15-AEF4507AF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E70559-F67E-CA20-365A-2B0DDAFBD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736514-470B-0377-D0F6-5D31A6DEA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3551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593FE35-8AF2-DD78-796E-56EC686361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7B660D9-45FD-7890-3D0F-E47BD8B39C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5E59F6-A2CA-A130-A170-4BCEBFD81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739BC6-BAA9-14F7-E5F0-45F92CF9E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443F45-277D-2C12-D898-2C9E77A34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7993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B8F0C5-9240-24BB-AB2C-20ADF63F8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474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A6985C-F8DC-F486-A49E-0B2B65441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91F3EF-F30E-6D88-967B-040F961D8E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9879BD-3AFC-8225-C352-7D9D01B1A2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E1DDE2-73F3-A77C-24A3-116C7FD462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DEFAF48-7A20-BDED-6DB6-D8E23EB4BEE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9053" y="24422"/>
            <a:ext cx="2322947" cy="200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368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eb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linky-z/OOP-Tutoria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A6D10E-B4D8-B973-A146-B23613FFFF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Введение. Технологии программирования.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3AF7337-EB00-C20F-E6CF-D664DFEC72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4708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Вспоминаем предыдущий семестр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4000" b="1" dirty="0"/>
              <a:t>Основы ООП:</a:t>
            </a:r>
          </a:p>
          <a:p>
            <a:pPr marL="1143000" lvl="1" indent="-457200"/>
            <a:r>
              <a:rPr lang="ru-RU" sz="3600" i="1" dirty="0">
                <a:latin typeface="Arial" panose="020B0604020202020204" pitchFamily="34" charset="0"/>
                <a:cs typeface="Arial" panose="020B0604020202020204" pitchFamily="34" charset="0"/>
              </a:rPr>
              <a:t>Инкапсуляция</a:t>
            </a:r>
          </a:p>
          <a:p>
            <a:pPr marL="1143000" lvl="1" indent="-457200"/>
            <a:r>
              <a:rPr lang="ru-RU" sz="3600" i="1" dirty="0">
                <a:latin typeface="Arial" panose="020B0604020202020204" pitchFamily="34" charset="0"/>
                <a:cs typeface="Arial" panose="020B0604020202020204" pitchFamily="34" charset="0"/>
              </a:rPr>
              <a:t>Наследование</a:t>
            </a:r>
          </a:p>
          <a:p>
            <a:pPr marL="1143000" lvl="1" indent="-457200"/>
            <a:r>
              <a:rPr lang="ru-RU" sz="3600" i="1" dirty="0">
                <a:latin typeface="Arial" panose="020B0604020202020204" pitchFamily="34" charset="0"/>
                <a:cs typeface="Arial" panose="020B0604020202020204" pitchFamily="34" charset="0"/>
              </a:rPr>
              <a:t>Полиморфизм</a:t>
            </a:r>
          </a:p>
        </p:txBody>
      </p:sp>
    </p:spTree>
    <p:extLst>
      <p:ext uri="{BB962C8B-B14F-4D97-AF65-F5344CB8AC3E}">
        <p14:creationId xmlns:p14="http://schemas.microsoft.com/office/powerpoint/2010/main" val="4115921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E0ED08-C7C5-970B-36E6-0CBD7A6F0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Инкапсуляция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C1A44600-72FA-B888-7B79-75398CA336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577" y="1825625"/>
            <a:ext cx="9846846" cy="4895850"/>
          </a:xfrm>
        </p:spPr>
      </p:pic>
    </p:spTree>
    <p:extLst>
      <p:ext uri="{BB962C8B-B14F-4D97-AF65-F5344CB8AC3E}">
        <p14:creationId xmlns:p14="http://schemas.microsoft.com/office/powerpoint/2010/main" val="2972226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69B245-7A29-FAD8-E841-45E6F45D6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Наследование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CF0301D-4234-C96C-D429-A52941C6EE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278" y="1492994"/>
            <a:ext cx="7259444" cy="4999881"/>
          </a:xfrm>
        </p:spPr>
      </p:pic>
    </p:spTree>
    <p:extLst>
      <p:ext uri="{BB962C8B-B14F-4D97-AF65-F5344CB8AC3E}">
        <p14:creationId xmlns:p14="http://schemas.microsoft.com/office/powerpoint/2010/main" val="2415869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AA6974-CFBD-0BE5-8114-CD4413F03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Полиморфизм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B4E4CB4-4657-40F1-F3FB-DCFD447F0A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5596" y="1825625"/>
            <a:ext cx="8660807" cy="4895850"/>
          </a:xfrm>
        </p:spPr>
      </p:pic>
    </p:spTree>
    <p:extLst>
      <p:ext uri="{BB962C8B-B14F-4D97-AF65-F5344CB8AC3E}">
        <p14:creationId xmlns:p14="http://schemas.microsoft.com/office/powerpoint/2010/main" val="2129915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114626-F815-74D0-930E-3AA377809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Императивная парадигма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C65CD7-748D-53E4-F7C0-C116E55B2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/>
              <a:t>Программа описывается как последовательность шагов. Разделяется на: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/>
              <a:t>Процедурное программирование – задача разбивается на отдельные процедуры (функции, подпрограммы), которые выполняют конкретные действия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/>
              <a:t>Объектно-ориентированное программирование – программа строится вокруг объектов, которые объединяют данные и методы работы с ними, что позволяет создавать модульный, повторно используемый и легко поддерживаемый код.</a:t>
            </a:r>
          </a:p>
        </p:txBody>
      </p:sp>
    </p:spTree>
    <p:extLst>
      <p:ext uri="{BB962C8B-B14F-4D97-AF65-F5344CB8AC3E}">
        <p14:creationId xmlns:p14="http://schemas.microsoft.com/office/powerpoint/2010/main" val="493390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AEEA0E-62C7-7973-3EE6-5E52AC887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Декларативная парадигма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4C6B0E-78C7-C989-B327-012630C57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dirty="0"/>
              <a:t>Программа описывает желаемый результат.</a:t>
            </a:r>
          </a:p>
          <a:p>
            <a:pPr algn="just"/>
            <a:r>
              <a:rPr lang="ru-RU" dirty="0"/>
              <a:t>Разделяется на: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/>
              <a:t>Функциональное программирование – программа состоит из функций, которые преобразуют данные. Ключевая идея заключается в использовании «чистых» функций, которые не имеют побочных эффектов (не меняют глобальное состояние программы) и всегда возвращают одинаковый результат при одних и тех же входных данных.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/>
              <a:t>Логическое программирование – программа представляет собой набор фактов и правил, а задача решается через логический вывод.</a:t>
            </a:r>
          </a:p>
        </p:txBody>
      </p:sp>
    </p:spTree>
    <p:extLst>
      <p:ext uri="{BB962C8B-B14F-4D97-AF65-F5344CB8AC3E}">
        <p14:creationId xmlns:p14="http://schemas.microsoft.com/office/powerpoint/2010/main" val="2853878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7ED9C2-DC7E-91A8-7E5C-DA4BD2703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Условная классификация ЯП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1C3C3D-1E6F-FB95-AF8C-89542D49F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/>
              <a:t>Языки для веб-разработки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/>
              <a:t>Языки для анализа данных и Data Science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/>
              <a:t>Языки для мобильной разработки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/>
              <a:t>Языки для системного программирования и высокой производительности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/>
              <a:t>Языки для работы с базами данных</a:t>
            </a:r>
          </a:p>
        </p:txBody>
      </p:sp>
    </p:spTree>
    <p:extLst>
      <p:ext uri="{BB962C8B-B14F-4D97-AF65-F5344CB8AC3E}">
        <p14:creationId xmlns:p14="http://schemas.microsoft.com/office/powerpoint/2010/main" val="2376482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7051B1-377A-BC8B-1FD0-B7B109B92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Языки для веб-разработки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435C69-5478-7B6E-79A0-E2DE3E5CD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b="1" i="1" dirty="0"/>
              <a:t>JavaScript</a:t>
            </a:r>
            <a:r>
              <a:rPr lang="ru-RU" dirty="0"/>
              <a:t> – основной язык для создания интерактивных элементов на веб-страницах: анимации, всплывающих окон, динамических форм. В последние годы его используют и на сервере благодаря Node.js.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b="1" i="1" dirty="0" err="1"/>
              <a:t>TypeScript</a:t>
            </a:r>
            <a:r>
              <a:rPr lang="ru-RU" dirty="0"/>
              <a:t> – надмножество JavaScript со статической типизацией. Применяется в крупных веб-проектах для повышения надёжности кода.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b="1" i="1" dirty="0"/>
              <a:t>Python</a:t>
            </a:r>
            <a:r>
              <a:rPr lang="ru-RU" dirty="0"/>
              <a:t> – подходит для бэкенд-разработки (фреймворки </a:t>
            </a:r>
            <a:r>
              <a:rPr lang="ru-RU" dirty="0" err="1"/>
              <a:t>Django</a:t>
            </a:r>
            <a:r>
              <a:rPr lang="ru-RU" dirty="0"/>
              <a:t>, </a:t>
            </a:r>
            <a:r>
              <a:rPr lang="ru-RU" dirty="0" err="1"/>
              <a:t>Flask</a:t>
            </a:r>
            <a:r>
              <a:rPr lang="ru-RU" dirty="0"/>
              <a:t>), анализа данных, машинного обучения и создания API.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b="1" i="1" dirty="0"/>
              <a:t>PHP</a:t>
            </a:r>
            <a:r>
              <a:rPr lang="ru-RU" dirty="0"/>
              <a:t> – используется для создания динамических веб-сайтов, систем управления контентом (CMS) и интернет-магазинов. </a:t>
            </a:r>
          </a:p>
        </p:txBody>
      </p:sp>
    </p:spTree>
    <p:extLst>
      <p:ext uri="{BB962C8B-B14F-4D97-AF65-F5344CB8AC3E}">
        <p14:creationId xmlns:p14="http://schemas.microsoft.com/office/powerpoint/2010/main" val="863624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CC3B28-CE5C-4B05-7A9D-04097968D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Языки для анализа данных и Data Science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9112EB-2663-AACD-8A80-BDE326CB4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b="1" i="1" dirty="0"/>
              <a:t>Python </a:t>
            </a:r>
            <a:r>
              <a:rPr lang="ru-RU" dirty="0"/>
              <a:t>– универсальный язык с простым синтаксисом. Активно применяется в машинном обучении (библиотеки </a:t>
            </a:r>
            <a:r>
              <a:rPr lang="ru-RU" dirty="0" err="1"/>
              <a:t>TensorFlow</a:t>
            </a:r>
            <a:r>
              <a:rPr lang="ru-RU" dirty="0"/>
              <a:t>, </a:t>
            </a:r>
            <a:r>
              <a:rPr lang="ru-RU" dirty="0" err="1"/>
              <a:t>PyTorch</a:t>
            </a:r>
            <a:r>
              <a:rPr lang="ru-RU" dirty="0"/>
              <a:t>, </a:t>
            </a:r>
            <a:r>
              <a:rPr lang="ru-RU" dirty="0" err="1"/>
              <a:t>Scikit-learn</a:t>
            </a:r>
            <a:r>
              <a:rPr lang="ru-RU" dirty="0"/>
              <a:t>), обработке и анализе данных (</a:t>
            </a:r>
            <a:r>
              <a:rPr lang="ru-RU" dirty="0" err="1"/>
              <a:t>Pandas</a:t>
            </a:r>
            <a:r>
              <a:rPr lang="ru-RU" dirty="0"/>
              <a:t>, </a:t>
            </a:r>
            <a:r>
              <a:rPr lang="ru-RU" dirty="0" err="1"/>
              <a:t>NumPy</a:t>
            </a:r>
            <a:r>
              <a:rPr lang="ru-RU" dirty="0"/>
              <a:t>), визуализации (</a:t>
            </a:r>
            <a:r>
              <a:rPr lang="ru-RU" dirty="0" err="1"/>
              <a:t>Matplotlib</a:t>
            </a:r>
            <a:r>
              <a:rPr lang="ru-RU" dirty="0"/>
              <a:t>, </a:t>
            </a:r>
            <a:r>
              <a:rPr lang="ru-RU" dirty="0" err="1"/>
              <a:t>Seaborn</a:t>
            </a:r>
            <a:r>
              <a:rPr lang="ru-RU" dirty="0"/>
              <a:t>). </a:t>
            </a:r>
          </a:p>
          <a:p>
            <a:pPr algn="just"/>
            <a:r>
              <a:rPr lang="ru-RU" b="1" i="1" dirty="0"/>
              <a:t>R  </a:t>
            </a:r>
            <a:r>
              <a:rPr lang="ru-RU" dirty="0"/>
              <a:t>– специализируется на статистическом анализе и исследованиях. Идеален для построения сложных моделей, визуализации результатов и академических работ. </a:t>
            </a:r>
          </a:p>
          <a:p>
            <a:pPr algn="just"/>
            <a:r>
              <a:rPr lang="ru-RU" b="1" i="1" dirty="0" err="1"/>
              <a:t>Julia</a:t>
            </a:r>
            <a:r>
              <a:rPr lang="ru-RU" b="1" i="1" dirty="0"/>
              <a:t>  </a:t>
            </a:r>
            <a:r>
              <a:rPr lang="ru-RU" dirty="0"/>
              <a:t>– разработан для научных вычислений и работы с большими данными. Сочетает скорость низкоуровневых языков с удобством высокоуровневого синтаксиса.</a:t>
            </a:r>
          </a:p>
        </p:txBody>
      </p:sp>
    </p:spTree>
    <p:extLst>
      <p:ext uri="{BB962C8B-B14F-4D97-AF65-F5344CB8AC3E}">
        <p14:creationId xmlns:p14="http://schemas.microsoft.com/office/powerpoint/2010/main" val="1364712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28FC52-E954-01DD-7FAD-B3E560145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Языки для мобильной разработки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6BD8C4-B174-AF80-9F40-638C5CAE7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b="1" i="1" dirty="0"/>
              <a:t>Kotlin</a:t>
            </a:r>
            <a:r>
              <a:rPr lang="ru-RU" b="1" i="1" dirty="0"/>
              <a:t> </a:t>
            </a:r>
            <a:r>
              <a:rPr lang="ru-RU" dirty="0"/>
              <a:t>– современный стандарт для разработки под </a:t>
            </a:r>
            <a:r>
              <a:rPr lang="en-US" dirty="0"/>
              <a:t>Android. </a:t>
            </a:r>
            <a:r>
              <a:rPr lang="ru-RU" dirty="0"/>
              <a:t>Позволяет писать более лаконичный и безопасный код, совместим с </a:t>
            </a:r>
            <a:r>
              <a:rPr lang="en-US" dirty="0"/>
              <a:t>Java.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b="1" i="1" dirty="0"/>
              <a:t>Swift</a:t>
            </a:r>
            <a:r>
              <a:rPr lang="ru-RU" b="1" i="1" dirty="0"/>
              <a:t> </a:t>
            </a:r>
            <a:r>
              <a:rPr lang="ru-RU" dirty="0"/>
              <a:t>– язык от </a:t>
            </a:r>
            <a:r>
              <a:rPr lang="en-US" dirty="0"/>
              <a:t>Apple </a:t>
            </a:r>
            <a:r>
              <a:rPr lang="ru-RU" dirty="0"/>
              <a:t>для создания приложений под </a:t>
            </a:r>
            <a:r>
              <a:rPr lang="en-US" dirty="0"/>
              <a:t>iOS, macOS, watchOS </a:t>
            </a:r>
            <a:r>
              <a:rPr lang="ru-RU" dirty="0"/>
              <a:t>и </a:t>
            </a:r>
            <a:r>
              <a:rPr lang="en-US" dirty="0"/>
              <a:t>tvOS.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b="1" i="1" dirty="0"/>
              <a:t>Dart</a:t>
            </a:r>
            <a:r>
              <a:rPr lang="ru-RU" b="1" i="1" dirty="0"/>
              <a:t>  </a:t>
            </a:r>
            <a:r>
              <a:rPr lang="ru-RU" dirty="0"/>
              <a:t>– используется в фреймворке </a:t>
            </a:r>
            <a:r>
              <a:rPr lang="en-US" dirty="0"/>
              <a:t>Flutter </a:t>
            </a:r>
            <a:r>
              <a:rPr lang="ru-RU" dirty="0"/>
              <a:t>для кроссплатформенной мобильной разработки (</a:t>
            </a:r>
            <a:r>
              <a:rPr lang="en-US" dirty="0"/>
              <a:t>iOS </a:t>
            </a:r>
            <a:r>
              <a:rPr lang="ru-RU" dirty="0"/>
              <a:t>и </a:t>
            </a:r>
            <a:r>
              <a:rPr lang="en-US" dirty="0"/>
              <a:t>Android) </a:t>
            </a:r>
            <a:r>
              <a:rPr lang="ru-RU" dirty="0"/>
              <a:t>с единой кодовой базой.</a:t>
            </a:r>
          </a:p>
        </p:txBody>
      </p:sp>
    </p:spTree>
    <p:extLst>
      <p:ext uri="{BB962C8B-B14F-4D97-AF65-F5344CB8AC3E}">
        <p14:creationId xmlns:p14="http://schemas.microsoft.com/office/powerpoint/2010/main" val="28499426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57D30D-AC6A-7CFD-3FD0-1F4328292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/>
              <a:t>Языки для системного программирования и высокой производительности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AEBAB9-E9EF-D436-7B7B-42B7A42DE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b="1" i="1" dirty="0"/>
              <a:t>C </a:t>
            </a:r>
            <a:r>
              <a:rPr lang="ru-RU" dirty="0"/>
              <a:t>– применяется для создания операционных систем, драйверов устройств и встраиваемых систем.</a:t>
            </a:r>
          </a:p>
          <a:p>
            <a:pPr algn="just"/>
            <a:r>
              <a:rPr lang="ru-RU" b="1" i="1" dirty="0"/>
              <a:t>C++  </a:t>
            </a:r>
            <a:r>
              <a:rPr lang="ru-RU" dirty="0"/>
              <a:t>– используется там, где критична производительность: игры, 3D-графика, финансовые системы, высоконагруженные приложения.</a:t>
            </a:r>
          </a:p>
          <a:p>
            <a:pPr algn="just"/>
            <a:r>
              <a:rPr lang="ru-RU" b="1" i="1" dirty="0" err="1"/>
              <a:t>Rust</a:t>
            </a:r>
            <a:r>
              <a:rPr lang="ru-RU" b="1" i="1" dirty="0"/>
              <a:t> </a:t>
            </a:r>
            <a:r>
              <a:rPr lang="ru-RU" dirty="0"/>
              <a:t> – обеспечивает безопасность памяти и высокую производительность. Подходит для системного ПО, веб-браузеров и критически важных сервисов.</a:t>
            </a:r>
          </a:p>
        </p:txBody>
      </p:sp>
    </p:spTree>
    <p:extLst>
      <p:ext uri="{BB962C8B-B14F-4D97-AF65-F5344CB8AC3E}">
        <p14:creationId xmlns:p14="http://schemas.microsoft.com/office/powerpoint/2010/main" val="3878680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209ED8-ACF1-0CE0-B8FB-B47D367EE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Выбор языка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2E9B2C-A8EC-C1C2-AB0F-60BF8EE80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Что учитывать при выборе языка?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/>
              <a:t>Какую задачу решаем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/>
              <a:t>Требования к производительность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/>
              <a:t>Требования к масштабируемости и надёжности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/>
              <a:t>Опыт команды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/>
              <a:t>Экосистема</a:t>
            </a:r>
          </a:p>
        </p:txBody>
      </p:sp>
    </p:spTree>
    <p:extLst>
      <p:ext uri="{BB962C8B-B14F-4D97-AF65-F5344CB8AC3E}">
        <p14:creationId xmlns:p14="http://schemas.microsoft.com/office/powerpoint/2010/main" val="17449713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617A62-E5CD-231A-6573-41EC6E009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архитектур ПО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1D11D6-E17C-C5B4-8029-2CEA903F7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/>
              <a:t>Монолитная архитектура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/>
              <a:t>Микросервисная архитектура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/>
              <a:t>Многослойная (</a:t>
            </a:r>
            <a:r>
              <a:rPr lang="en-US" dirty="0"/>
              <a:t>Layered) </a:t>
            </a:r>
            <a:r>
              <a:rPr lang="ru-RU" dirty="0"/>
              <a:t>архитектура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/>
              <a:t>Событийно-ориентированная архитектура (</a:t>
            </a:r>
            <a:r>
              <a:rPr lang="en-US" dirty="0"/>
              <a:t>Event-driven)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89871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C66024-F01F-9F15-9A7A-BE690990B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Монолитная архитектура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97906A-DBD6-652D-648E-E055E70A1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ru-RU" dirty="0"/>
              <a:t>Все компоненты приложения – пользовательский интерфейс, бизнес-логика, доступ к данным – объединены в единое целое с общей кодовой базой.</a:t>
            </a:r>
          </a:p>
          <a:p>
            <a:pPr algn="just"/>
            <a:r>
              <a:rPr lang="ru-RU" b="1" i="1" dirty="0"/>
              <a:t>Плюсы: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/>
              <a:t>Простота разработки и тестирования, так как всё находится в одном репозитории.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/>
              <a:t>Упрощённое развёртывание, так как приложение запускается как один процесс.</a:t>
            </a:r>
          </a:p>
          <a:p>
            <a:pPr algn="just"/>
            <a:r>
              <a:rPr lang="ru-RU" b="1" i="1" dirty="0"/>
              <a:t>Минусы: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/>
              <a:t>Сложность масштабирования, поскольку при высокой нагрузке на одну часть системы приходится наращивать ресурсы всего приложения.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/>
              <a:t>Высокая связанность компонентов: изменение в одном месте может повлиять на работу всей системы.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/>
              <a:t>Риск единой точки отказа: сбой в одном модуле может привести к остановке всего приложения.</a:t>
            </a:r>
          </a:p>
        </p:txBody>
      </p:sp>
    </p:spTree>
    <p:extLst>
      <p:ext uri="{BB962C8B-B14F-4D97-AF65-F5344CB8AC3E}">
        <p14:creationId xmlns:p14="http://schemas.microsoft.com/office/powerpoint/2010/main" val="179387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82F55-978D-C99C-D50C-3BCCCEC6C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Микросервисная архитектура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A5EB29-1823-2736-D651-D8F1C1ADE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ru-RU" dirty="0"/>
              <a:t>Система разбивается на небольшие независимые сервисы, каждый из которых выполняет конкретную бизнес-задачу (например, обработка заказов, управление каталогом товаров). </a:t>
            </a:r>
          </a:p>
          <a:p>
            <a:pPr algn="just"/>
            <a:r>
              <a:rPr lang="ru-RU" b="1" i="1" dirty="0"/>
              <a:t>Плюсы: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/>
              <a:t>Независимое развёртывание и масштабирование сервисов.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/>
              <a:t>Устойчивость к сбоям: отказ одного сервиса не влияет на работу остальных.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/>
              <a:t>Гибкость в выборе технологий для разных частей системы.</a:t>
            </a:r>
          </a:p>
          <a:p>
            <a:pPr algn="just"/>
            <a:r>
              <a:rPr lang="ru-RU" b="1" i="1" dirty="0"/>
              <a:t>Минусы: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/>
              <a:t>Высокая сложность инфраструктуры и управления.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/>
              <a:t>Сетевые задержки при взаимодействии между сервисами.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/>
              <a:t>Сложности с обеспечением согласованности данных в распределённой среде.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/>
              <a:t>Необходимость в зрелой </a:t>
            </a:r>
            <a:r>
              <a:rPr lang="ru-RU" dirty="0" err="1"/>
              <a:t>DevOps</a:t>
            </a:r>
            <a:r>
              <a:rPr lang="ru-RU" dirty="0"/>
              <a:t>-культуре и инструментах мониторинга.</a:t>
            </a:r>
          </a:p>
        </p:txBody>
      </p:sp>
    </p:spTree>
    <p:extLst>
      <p:ext uri="{BB962C8B-B14F-4D97-AF65-F5344CB8AC3E}">
        <p14:creationId xmlns:p14="http://schemas.microsoft.com/office/powerpoint/2010/main" val="28841700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2EFB51-263B-2D8F-811B-B3000E989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Многослойная (</a:t>
            </a:r>
            <a:r>
              <a:rPr lang="ru-RU" dirty="0" err="1"/>
              <a:t>Layered</a:t>
            </a:r>
            <a:r>
              <a:rPr lang="ru-RU" dirty="0"/>
              <a:t>) архитектура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84C27C-D5DA-501C-B3D8-811943413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ru-RU" dirty="0"/>
              <a:t>Система делится на иерархические слои, каждый из которых отвечает за определённую функциональность (например, слой представления, бизнес-логики, доступа к данным). </a:t>
            </a:r>
          </a:p>
          <a:p>
            <a:pPr algn="just"/>
            <a:r>
              <a:rPr lang="ru-RU" b="1" i="1" dirty="0"/>
              <a:t>Плюсы: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/>
              <a:t>Упрощение понимания и поддержки кода за счёт чёткого разделения ответственностей.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/>
              <a:t>Изоляция слоёв друг от друга, что повышает управляемость.</a:t>
            </a:r>
          </a:p>
          <a:p>
            <a:pPr algn="just"/>
            <a:r>
              <a:rPr lang="ru-RU" b="1" i="1" dirty="0"/>
              <a:t>Минусы: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/>
              <a:t>Ограниченная масштабируемость, так как данные проходят через все слои даже при ненужной передаче.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/>
              <a:t>В крупных системах может возникать «монолитный комок грязи» из-за сильной связанности слоёв.</a:t>
            </a:r>
          </a:p>
        </p:txBody>
      </p:sp>
    </p:spTree>
    <p:extLst>
      <p:ext uri="{BB962C8B-B14F-4D97-AF65-F5344CB8AC3E}">
        <p14:creationId xmlns:p14="http://schemas.microsoft.com/office/powerpoint/2010/main" val="1682620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D4A84C-1096-4F27-5881-BC2242327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Событийно-ориентированная архитектура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3CC302-8462-3181-5179-51F6A297B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ru-RU" dirty="0"/>
              <a:t>Компоненты системы работают независимо и взаимодействуют через события (сообщения), которые генерируются при возникновении определённых ситуаций. </a:t>
            </a:r>
          </a:p>
          <a:p>
            <a:pPr algn="just"/>
            <a:r>
              <a:rPr lang="ru-RU" b="1" i="1" dirty="0"/>
              <a:t>Плюсы: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/>
              <a:t>Гибкость и масштабируемость за счёт асинхронного взаимодействия.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/>
              <a:t>Возможность легко добавлять новые «потребители событий».</a:t>
            </a:r>
          </a:p>
          <a:p>
            <a:pPr algn="just"/>
            <a:r>
              <a:rPr lang="ru-RU" b="1" i="1" dirty="0"/>
              <a:t>Минусы: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/>
              <a:t>Сложность отладки и мониторинга из-за </a:t>
            </a:r>
            <a:r>
              <a:rPr lang="ru-RU" dirty="0" err="1"/>
              <a:t>распределённости</a:t>
            </a:r>
            <a:r>
              <a:rPr lang="ru-RU" dirty="0"/>
              <a:t> компонентов.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/>
              <a:t>Проблемы с обеспечением строгой согласованности данных.</a:t>
            </a:r>
          </a:p>
        </p:txBody>
      </p:sp>
    </p:spTree>
    <p:extLst>
      <p:ext uri="{BB962C8B-B14F-4D97-AF65-F5344CB8AC3E}">
        <p14:creationId xmlns:p14="http://schemas.microsoft.com/office/powerpoint/2010/main" val="34166353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8A42E7-A8B7-4EEF-BFD6-0ACBE3473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Выбор архитектуры ПО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574C37-AD9D-BCC6-C320-A1A0A0DBD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b="1" i="1" dirty="0"/>
              <a:t>Размер и сложность проекта.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b="1" i="1" dirty="0"/>
              <a:t>Требования к масштабируемости и гибкости.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b="1" i="1" dirty="0"/>
              <a:t>Опыт и компетенции команды.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b="1" i="1" dirty="0"/>
              <a:t>Бюджет и сроки.</a:t>
            </a:r>
          </a:p>
        </p:txBody>
      </p:sp>
    </p:spTree>
    <p:extLst>
      <p:ext uri="{BB962C8B-B14F-4D97-AF65-F5344CB8AC3E}">
        <p14:creationId xmlns:p14="http://schemas.microsoft.com/office/powerpoint/2010/main" val="16061095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2FF1A2-3D00-B15C-5983-3FC4006F7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Средства проектирования архитектуры ПО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704452-8DFA-0946-6F27-C0CE9AC5A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/>
              <a:t>Представляют собой набор методов, нотаций и инструментов, которые помогают архитекторам структурировать систему, визуализировать решения и передавать их команде и заинтересованным сторонам.</a:t>
            </a:r>
          </a:p>
        </p:txBody>
      </p:sp>
    </p:spTree>
    <p:extLst>
      <p:ext uri="{BB962C8B-B14F-4D97-AF65-F5344CB8AC3E}">
        <p14:creationId xmlns:p14="http://schemas.microsoft.com/office/powerpoint/2010/main" val="24437635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900233-55A9-80D2-6AA5-90D6D6CA8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и подходы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5C3F9B-1649-E524-F3FE-F383F4325B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/>
              <a:t>Декомпозиция – разбиение сложной системы на более простые, независимые компоненты.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/>
              <a:t>Абстракция и инкапсуляция – выделение существенных характеристик и сокрытие деталей реализации.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/>
              <a:t>Архитектурные стили – проверенные решения для типичных задач (микросервисная архитектура, MVC, событийно-ориентированная архитектура).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/>
              <a:t>Архитектурные шаблоны (паттерны) – готовые решения для повторяющихся проблем проектирования.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/>
              <a:t>Стандарты  – ISO/IEC/IEEE 42010:2022 «Программные средства, системы и предприятия. Описание архитектуры».</a:t>
            </a:r>
          </a:p>
        </p:txBody>
      </p:sp>
    </p:spTree>
    <p:extLst>
      <p:ext uri="{BB962C8B-B14F-4D97-AF65-F5344CB8AC3E}">
        <p14:creationId xmlns:p14="http://schemas.microsoft.com/office/powerpoint/2010/main" val="18969536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35B28E-F6A6-1D7B-A534-236BAD189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Графические средства визуализации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800F2A-A9C7-B686-8EF2-CEF21A4EC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dirty="0"/>
              <a:t>UML (Unified Modeling Language)</a:t>
            </a:r>
            <a:r>
              <a:rPr lang="ru-RU" dirty="0"/>
              <a:t> – стандартизированный язык с набором диаграмм: классов, последовательностей, состояний, компонентов и др.</a:t>
            </a:r>
            <a:endParaRPr lang="en-US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dirty="0"/>
              <a:t>C4</a:t>
            </a:r>
            <a:r>
              <a:rPr lang="ru-RU" dirty="0"/>
              <a:t> – нотация, разбивающая представление архитектуры на четыре уровня: </a:t>
            </a:r>
            <a:r>
              <a:rPr lang="en-US" dirty="0"/>
              <a:t>Context (</a:t>
            </a:r>
            <a:r>
              <a:rPr lang="ru-RU" dirty="0"/>
              <a:t>контекст), </a:t>
            </a:r>
            <a:r>
              <a:rPr lang="en-US" dirty="0"/>
              <a:t>Containers (</a:t>
            </a:r>
            <a:r>
              <a:rPr lang="ru-RU" dirty="0"/>
              <a:t>контейнеры), </a:t>
            </a:r>
            <a:r>
              <a:rPr lang="en-US" dirty="0"/>
              <a:t>Components (</a:t>
            </a:r>
            <a:r>
              <a:rPr lang="ru-RU" dirty="0"/>
              <a:t>компоненты), </a:t>
            </a:r>
            <a:r>
              <a:rPr lang="en-US" dirty="0"/>
              <a:t>Code (</a:t>
            </a:r>
            <a:r>
              <a:rPr lang="ru-RU" dirty="0"/>
              <a:t>код).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dirty="0" err="1"/>
              <a:t>Archimate</a:t>
            </a:r>
            <a:r>
              <a:rPr lang="ru-RU" dirty="0"/>
              <a:t> – универсальный язык для описания сложной архитектуры, связывающий бизнес-цели с </a:t>
            </a:r>
            <a:r>
              <a:rPr lang="en-US" dirty="0"/>
              <a:t>IT-</a:t>
            </a:r>
            <a:r>
              <a:rPr lang="ru-RU" dirty="0"/>
              <a:t>решениями.</a:t>
            </a:r>
            <a:endParaRPr lang="en-US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dirty="0" err="1"/>
              <a:t>SysML</a:t>
            </a:r>
            <a:r>
              <a:rPr lang="ru-RU" dirty="0"/>
              <a:t> – расширение </a:t>
            </a:r>
            <a:r>
              <a:rPr lang="en-US" dirty="0"/>
              <a:t>UML </a:t>
            </a:r>
            <a:r>
              <a:rPr lang="ru-RU" dirty="0"/>
              <a:t>для моделирования систем, включающих программное обеспечение, оборудование и процессы.</a:t>
            </a:r>
          </a:p>
        </p:txBody>
      </p:sp>
    </p:spTree>
    <p:extLst>
      <p:ext uri="{BB962C8B-B14F-4D97-AF65-F5344CB8AC3E}">
        <p14:creationId xmlns:p14="http://schemas.microsoft.com/office/powerpoint/2010/main" val="11279272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3AFC72-C0FE-CB8B-DBC2-172B523EE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Бизнес-задачи и стартапы</a:t>
            </a:r>
            <a:br>
              <a:rPr lang="ru-RU" dirty="0"/>
            </a:br>
            <a:r>
              <a:rPr lang="ru-RU" dirty="0"/>
              <a:t>Различия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4A6ED4-89D2-8D65-86D7-728AA4010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ru-RU" b="1" dirty="0"/>
              <a:t>Цель и уровень неопределённости</a:t>
            </a:r>
          </a:p>
          <a:p>
            <a:pPr algn="just"/>
            <a:r>
              <a:rPr lang="ru-RU" b="1" i="1" dirty="0"/>
              <a:t>Бизнес-задачи</a:t>
            </a:r>
            <a:r>
              <a:rPr lang="ru-RU" dirty="0"/>
              <a:t> обычно решают конкретную, уже известную проблему. </a:t>
            </a:r>
          </a:p>
          <a:p>
            <a:pPr algn="just"/>
            <a:r>
              <a:rPr lang="ru-RU" dirty="0"/>
              <a:t>Цель – оптимизировать то, что уже работает: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/>
              <a:t>сократить издержки.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/>
              <a:t>автоматизировать рутину.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/>
              <a:t>улучшить клиентский сервис. </a:t>
            </a:r>
          </a:p>
          <a:p>
            <a:pPr algn="just"/>
            <a:r>
              <a:rPr lang="ru-RU" dirty="0"/>
              <a:t>На этапе проектирования вы чётко видите «как есть» и «как должно стать». </a:t>
            </a:r>
          </a:p>
          <a:p>
            <a:pPr algn="just"/>
            <a:r>
              <a:rPr lang="ru-RU" b="1" i="1" dirty="0"/>
              <a:t>Стартапы</a:t>
            </a:r>
            <a:r>
              <a:rPr lang="ru-RU" dirty="0"/>
              <a:t> ставят цель найти и проверить новую, часто инновационную модель. </a:t>
            </a:r>
          </a:p>
          <a:p>
            <a:pPr algn="just"/>
            <a:r>
              <a:rPr lang="ru-RU" dirty="0"/>
              <a:t>Главная задача – доказать, что есть спрос, понять, как масштабировать решение и минимизировать риски. Из-за высокой неопределённости на старте часто приходится идти итеративно: выдвинуть гипотезу, сделать MVP (минимально жизнеспособный продукт), собрать обратную связь и только потом дорабатывать.</a:t>
            </a:r>
          </a:p>
        </p:txBody>
      </p:sp>
    </p:spTree>
    <p:extLst>
      <p:ext uri="{BB962C8B-B14F-4D97-AF65-F5344CB8AC3E}">
        <p14:creationId xmlns:p14="http://schemas.microsoft.com/office/powerpoint/2010/main" val="19303221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E408B-4ACB-DFE9-BF0B-CADF2FC59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Бизнес-задачи и стартапы</a:t>
            </a:r>
            <a:br>
              <a:rPr lang="ru-RU" dirty="0"/>
            </a:br>
            <a:r>
              <a:rPr lang="ru-RU" dirty="0"/>
              <a:t>Различия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9609E3-0DD1-2785-2112-344C2C003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Фокус требований</a:t>
            </a:r>
          </a:p>
          <a:p>
            <a:r>
              <a:rPr lang="ru-RU" dirty="0"/>
              <a:t>В бизнес-задачах требования формулируются в терминах бизнес-результата: «сократить время обработки заказа», «увеличить конверсию», «снизить количество ошибок».</a:t>
            </a:r>
          </a:p>
          <a:p>
            <a:r>
              <a:rPr lang="ru-RU" dirty="0"/>
              <a:t>В стартапах требования с самого начала строятся вокруг проверки гипотез: «нужна ли вообще эта функция пользователям?», «как именно они будут ею пользоваться?», «какой должен быть оптимальный поток данных?». Часто приходится балансировать между «красивой» архитектурой и тем, что реально можно быстро запустить и развить.</a:t>
            </a:r>
          </a:p>
        </p:txBody>
      </p:sp>
    </p:spTree>
    <p:extLst>
      <p:ext uri="{BB962C8B-B14F-4D97-AF65-F5344CB8AC3E}">
        <p14:creationId xmlns:p14="http://schemas.microsoft.com/office/powerpoint/2010/main" val="8399771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CEBB5E-9D4B-752C-DA29-2E9E1C723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Бизнес-задачи и стартапы</a:t>
            </a:r>
            <a:br>
              <a:rPr lang="ru-RU" dirty="0"/>
            </a:br>
            <a:r>
              <a:rPr lang="ru-RU" dirty="0"/>
              <a:t>Различия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6D3D06-346B-2A82-353D-344A26073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b="1" dirty="0"/>
              <a:t>Подход к разработке</a:t>
            </a:r>
          </a:p>
          <a:p>
            <a:pPr algn="just"/>
            <a:r>
              <a:rPr lang="ru-RU" b="1" i="1" dirty="0"/>
              <a:t>Бизнес-задачи</a:t>
            </a:r>
            <a:r>
              <a:rPr lang="ru-RU" dirty="0"/>
              <a:t> предполагают более жёсткое, каскадное (</a:t>
            </a:r>
            <a:r>
              <a:rPr lang="ru-RU" dirty="0" err="1"/>
              <a:t>Waterfall</a:t>
            </a:r>
            <a:r>
              <a:rPr lang="ru-RU" dirty="0"/>
              <a:t>) планирование. Есть чёткий, неизменный план: сначала анализ требований, потом проектирование, затем реализация, тестирование, внедрение.</a:t>
            </a:r>
          </a:p>
          <a:p>
            <a:pPr algn="just"/>
            <a:r>
              <a:rPr lang="ru-RU" b="1" i="1" dirty="0"/>
              <a:t>Стартапы</a:t>
            </a:r>
            <a:r>
              <a:rPr lang="ru-RU" dirty="0"/>
              <a:t> делают ставку на гибкие методологии (</a:t>
            </a:r>
            <a:r>
              <a:rPr lang="ru-RU" dirty="0" err="1"/>
              <a:t>Agile</a:t>
            </a:r>
            <a:r>
              <a:rPr lang="ru-RU" dirty="0"/>
              <a:t>). Это позволяет быстрее реагировать на обратную связь, менять архитектуру, добавлять функции в процессе разработки, а не ждать финального релиза.</a:t>
            </a:r>
          </a:p>
        </p:txBody>
      </p:sp>
    </p:spTree>
    <p:extLst>
      <p:ext uri="{BB962C8B-B14F-4D97-AF65-F5344CB8AC3E}">
        <p14:creationId xmlns:p14="http://schemas.microsoft.com/office/powerpoint/2010/main" val="23822980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76A409-81DF-950F-07C4-0C17301DB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Бизнес-задачи и стартапы</a:t>
            </a:r>
            <a:br>
              <a:rPr lang="ru-RU" dirty="0"/>
            </a:br>
            <a:r>
              <a:rPr lang="ru-RU" dirty="0"/>
              <a:t>Различия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1D130B-26E9-B28E-458F-D8480293D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b="1" dirty="0"/>
              <a:t>Масштабируемость и архитектура</a:t>
            </a:r>
          </a:p>
          <a:p>
            <a:pPr algn="just"/>
            <a:r>
              <a:rPr lang="ru-RU" dirty="0"/>
              <a:t>В </a:t>
            </a:r>
            <a:r>
              <a:rPr lang="ru-RU" b="1" i="1" dirty="0"/>
              <a:t>бизнес-задачах</a:t>
            </a:r>
            <a:r>
              <a:rPr lang="ru-RU" dirty="0"/>
              <a:t> масштабируемость часто вторична: система рассчитана на текущий объём.</a:t>
            </a:r>
          </a:p>
          <a:p>
            <a:pPr algn="just"/>
            <a:r>
              <a:rPr lang="ru-RU" dirty="0"/>
              <a:t>В </a:t>
            </a:r>
            <a:r>
              <a:rPr lang="ru-RU" b="1" i="1" dirty="0"/>
              <a:t>стартапах</a:t>
            </a:r>
            <a:r>
              <a:rPr lang="ru-RU" dirty="0"/>
              <a:t> архитектура с самого начала проектируется с расчётом на экспоненциальный рост – цифровые продукты могут подключать новых пользователей без пропорционального роста затрат на инфраструктуру.</a:t>
            </a:r>
          </a:p>
        </p:txBody>
      </p:sp>
    </p:spTree>
    <p:extLst>
      <p:ext uri="{BB962C8B-B14F-4D97-AF65-F5344CB8AC3E}">
        <p14:creationId xmlns:p14="http://schemas.microsoft.com/office/powerpoint/2010/main" val="32206565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3BBD5D-2887-356A-DBF4-A20A7A01A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Бизнес-задачи и стартапы</a:t>
            </a:r>
            <a:br>
              <a:rPr lang="ru-RU" dirty="0"/>
            </a:br>
            <a:r>
              <a:rPr lang="ru-RU" dirty="0"/>
              <a:t>Различия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558BD2-FA15-E116-0296-2310081BD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b="1" dirty="0"/>
              <a:t>Риски и управление ими</a:t>
            </a:r>
          </a:p>
          <a:p>
            <a:pPr algn="just"/>
            <a:r>
              <a:rPr lang="ru-RU" dirty="0"/>
              <a:t>В </a:t>
            </a:r>
            <a:r>
              <a:rPr lang="ru-RU" b="1" i="1" dirty="0"/>
              <a:t>бизнес-задачах</a:t>
            </a:r>
            <a:r>
              <a:rPr lang="ru-RU" dirty="0"/>
              <a:t> риски более предсказуемы: есть устоявшиеся процессы, проверенные технологии, понятная финансовая модель.</a:t>
            </a:r>
          </a:p>
          <a:p>
            <a:pPr algn="just"/>
            <a:r>
              <a:rPr lang="ru-RU" dirty="0"/>
              <a:t>В </a:t>
            </a:r>
            <a:r>
              <a:rPr lang="ru-RU" b="1" i="1" dirty="0"/>
              <a:t>стартапах</a:t>
            </a:r>
            <a:r>
              <a:rPr lang="ru-RU" dirty="0"/>
              <a:t> риск выше: идея может не найти отклика, модель масштабирования окажется неверной. Поэтому критически важно закладывать в процесс много времени и ресурсов на валидацию идей (тесты, A/B-тесты). </a:t>
            </a:r>
          </a:p>
        </p:txBody>
      </p:sp>
    </p:spTree>
    <p:extLst>
      <p:ext uri="{BB962C8B-B14F-4D97-AF65-F5344CB8AC3E}">
        <p14:creationId xmlns:p14="http://schemas.microsoft.com/office/powerpoint/2010/main" val="23277354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8DEF04-6874-E352-7A44-543D35A52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«Типичный» состав команды разработки ПО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BEBE10-FB1B-1969-8330-15BEA78D4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ru-RU" b="1" i="1" dirty="0"/>
              <a:t>Управленцы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b="1" i="1" dirty="0"/>
              <a:t>Владелец продукта </a:t>
            </a:r>
            <a:r>
              <a:rPr lang="ru-RU" dirty="0"/>
              <a:t>– «голос бизнеса» в команде. Он формирует видение продукта, управляет бэклогом (определяет, какие функции реализовывать в первую очередь), отвечает за то, чтобы результат соответствовал потребностям заказчика и пользователей.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b="1" i="1" dirty="0"/>
              <a:t>Менеджер проекта </a:t>
            </a:r>
            <a:r>
              <a:rPr lang="ru-RU" dirty="0"/>
              <a:t>– организует процесс: планирует этапы, распределяет ресурсы, контролирует сроки и бюджет, выстраивает коммуникацию внутри команды и с заказчиком, выявляет и минимизирует риски.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b="1" i="1" dirty="0"/>
              <a:t>Тимлид</a:t>
            </a:r>
            <a:r>
              <a:rPr lang="ru-RU" dirty="0"/>
              <a:t> – технический руководитель группы разработчиков. Он не только сам пишет код, но и направляет коллег: проводит код-ревью, следит за качеством архитектурных решений и соблюдением стандартов, распределяет задачи. </a:t>
            </a:r>
          </a:p>
          <a:p>
            <a:pPr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559131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CA34A-3C15-E300-5D26-77DFE576A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E44A35-A2C6-3C0C-CCE5-5B4BEF2F4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«Типичный» состав команды разработки ПО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CFDE8F-A114-5C3C-5D67-D7A74801A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b="1" i="1" dirty="0"/>
              <a:t>Аналитики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b="1" i="1" dirty="0"/>
              <a:t>Бизнес-аналитик</a:t>
            </a:r>
            <a:r>
              <a:rPr lang="ru-RU" dirty="0"/>
              <a:t> – собирает требования от заказчика и пользователей, анализирует их, переводит «что нужно бизнесу» в конкретные технические спецификации («как это реализовать»), документирует.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b="1" i="1" dirty="0"/>
              <a:t>Системный аналитик </a:t>
            </a:r>
            <a:r>
              <a:rPr lang="ru-RU" dirty="0"/>
              <a:t>– углубляется в детали, моделирует саму систему, продумывает, как компоненты будут взаимодействовать, выбирает технологические стеки, описывает API и интеграции.</a:t>
            </a:r>
          </a:p>
          <a:p>
            <a:pPr algn="just"/>
            <a:endParaRPr lang="ru-RU" b="1" i="1" dirty="0"/>
          </a:p>
        </p:txBody>
      </p:sp>
    </p:spTree>
    <p:extLst>
      <p:ext uri="{BB962C8B-B14F-4D97-AF65-F5344CB8AC3E}">
        <p14:creationId xmlns:p14="http://schemas.microsoft.com/office/powerpoint/2010/main" val="41958454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1601C-784A-653A-7A8B-154D4365D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8AB81D-1BBD-7FC8-99BE-83855982A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«Типичный» состав команды разработки ПО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DEBE83-DAD5-13E8-913C-6F4CD9BC3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b="1" i="1" dirty="0"/>
              <a:t>Проектировщики</a:t>
            </a:r>
          </a:p>
          <a:p>
            <a:pPr algn="just"/>
            <a:r>
              <a:rPr lang="ru-RU" b="1" i="1" dirty="0"/>
              <a:t>UX/UI-дизайнер </a:t>
            </a:r>
            <a:r>
              <a:rPr lang="ru-RU" dirty="0"/>
              <a:t>– создаёт удобные макеты и прототипы, тестирует их с пользователями, чтобы продукт был интуитивно понятен и приятен глазу.</a:t>
            </a:r>
          </a:p>
          <a:p>
            <a:pPr algn="just"/>
            <a:r>
              <a:rPr lang="ru-RU" b="1" i="1" dirty="0"/>
              <a:t>Архитектор ПО </a:t>
            </a:r>
            <a:r>
              <a:rPr lang="ru-RU" dirty="0"/>
              <a:t>– определяет общую архитектуру системы: как модули будут связаны между собой, какие технологии и инструменты использовать, чтобы решение было масштабируемым, надёжным и поддерживаемым.</a:t>
            </a:r>
          </a:p>
          <a:p>
            <a:pPr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20297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DF9EC5-B31B-CD84-54A8-3CD4E5F9D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«Типичный» состав команды разработки ПО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142E6D-D334-2418-E736-7D62D0889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b="1" i="1" dirty="0"/>
              <a:t>Разработчики</a:t>
            </a:r>
          </a:p>
          <a:p>
            <a:pPr algn="just"/>
            <a:r>
              <a:rPr lang="ru-RU" b="1" i="1" dirty="0"/>
              <a:t>Фронтенд-разработчик</a:t>
            </a:r>
            <a:r>
              <a:rPr lang="ru-RU" dirty="0"/>
              <a:t> – отвечает за клиентскую часть: интерфейс, кнопки, формы, адаптивную вёрстку, анимации.</a:t>
            </a:r>
          </a:p>
          <a:p>
            <a:pPr algn="just"/>
            <a:r>
              <a:rPr lang="ru-RU" b="1" i="1" dirty="0"/>
              <a:t>Бэкенд-разработчик</a:t>
            </a:r>
            <a:r>
              <a:rPr lang="ru-RU" dirty="0"/>
              <a:t> – занимается серверной логикой, работой с базами данных, API, интеграциями с внешними сервисами.</a:t>
            </a:r>
          </a:p>
          <a:p>
            <a:pPr algn="just"/>
            <a:r>
              <a:rPr lang="ru-RU" b="1" i="1" dirty="0" err="1"/>
              <a:t>Фуллстек</a:t>
            </a:r>
            <a:r>
              <a:rPr lang="ru-RU" b="1" i="1" dirty="0"/>
              <a:t>-разработчик</a:t>
            </a:r>
            <a:r>
              <a:rPr lang="ru-RU" dirty="0"/>
              <a:t> – универсальный специалист: может работать и с клиентской, и с серверной частью, обеспечивая связность системы.</a:t>
            </a:r>
          </a:p>
        </p:txBody>
      </p:sp>
    </p:spTree>
    <p:extLst>
      <p:ext uri="{BB962C8B-B14F-4D97-AF65-F5344CB8AC3E}">
        <p14:creationId xmlns:p14="http://schemas.microsoft.com/office/powerpoint/2010/main" val="1539515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6B9A1D-0B3A-339F-A68C-29100AA25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«Типичный» состав команды разработки ПО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9E5515-7365-040A-EDFE-ABE1CAF50A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b="1" i="1" dirty="0"/>
              <a:t>Тестировщики</a:t>
            </a:r>
          </a:p>
          <a:p>
            <a:pPr algn="just"/>
            <a:r>
              <a:rPr lang="ru-RU" b="1" i="1" dirty="0"/>
              <a:t>QA-инженере</a:t>
            </a:r>
            <a:r>
              <a:rPr lang="ru-RU" dirty="0"/>
              <a:t> – выстраивает процессы обеспечения качества на всех этапах: планирует тестовые сценарии, проводит ручное и автоматизированное тестирование, документирует результаты.</a:t>
            </a:r>
          </a:p>
          <a:p>
            <a:pPr algn="just"/>
            <a:r>
              <a:rPr lang="ru-RU" b="1" i="1" dirty="0"/>
              <a:t>Инженер по автоматизации тестирования </a:t>
            </a:r>
            <a:r>
              <a:rPr lang="ru-RU" dirty="0"/>
              <a:t>– специализируется на написании </a:t>
            </a:r>
            <a:r>
              <a:rPr lang="ru-RU" dirty="0" err="1"/>
              <a:t>автотестов</a:t>
            </a:r>
            <a:r>
              <a:rPr lang="ru-RU" dirty="0"/>
              <a:t>.</a:t>
            </a:r>
          </a:p>
          <a:p>
            <a:pPr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4854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9CBEC3-6696-BADF-473D-1A7DB7D43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«Типичный» состав команды разработки ПО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46E914-7992-34A4-2155-518F38BBF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b="1" i="1" dirty="0"/>
              <a:t>Администраторы</a:t>
            </a:r>
          </a:p>
          <a:p>
            <a:pPr algn="just"/>
            <a:r>
              <a:rPr lang="ru-RU" b="1" i="1" dirty="0" err="1"/>
              <a:t>DevOps</a:t>
            </a:r>
            <a:r>
              <a:rPr lang="ru-RU" b="1" i="1" dirty="0"/>
              <a:t>-инженер</a:t>
            </a:r>
            <a:r>
              <a:rPr lang="ru-RU" dirty="0"/>
              <a:t> – настраивает инфраструктуру (серверы, базы данных), автоматизирует процессы сборки, тестирования и развёртывания (CI/CD), обеспечивает стабильность и безопасность окружений.</a:t>
            </a:r>
          </a:p>
          <a:p>
            <a:pPr algn="just"/>
            <a:r>
              <a:rPr lang="ru-RU" b="1" i="1" dirty="0"/>
              <a:t>Системный администратор </a:t>
            </a:r>
            <a:r>
              <a:rPr lang="ru-RU" dirty="0"/>
              <a:t>– поддерживает работоспособность серверов, сетей, операционных систем, на которых работает продукт.</a:t>
            </a:r>
          </a:p>
          <a:p>
            <a:pPr algn="just"/>
            <a:r>
              <a:rPr lang="ru-RU" b="1" i="1" dirty="0"/>
              <a:t>Администратор баз данных </a:t>
            </a:r>
            <a:r>
              <a:rPr lang="ru-RU" dirty="0"/>
              <a:t>– специализируется на проектировании, оптимизации и обслуживании баз данных. </a:t>
            </a:r>
          </a:p>
          <a:p>
            <a:pPr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17066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4780BE-9023-F943-71B4-E6B087D3A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Review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74AD15-B826-9BE4-F9A2-379A60BA5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i="1" dirty="0"/>
              <a:t>Code Review </a:t>
            </a:r>
            <a:r>
              <a:rPr lang="en-US" dirty="0"/>
              <a:t>– </a:t>
            </a:r>
            <a:r>
              <a:rPr lang="ru-RU" dirty="0"/>
              <a:t>процесс в программировании, при котором один или несколько разработчиков анализируют код, написанный их коллегой, до того, как эти изменения попадут в основную кодовую базу проекта.</a:t>
            </a:r>
          </a:p>
        </p:txBody>
      </p:sp>
    </p:spTree>
    <p:extLst>
      <p:ext uri="{BB962C8B-B14F-4D97-AF65-F5344CB8AC3E}">
        <p14:creationId xmlns:p14="http://schemas.microsoft.com/office/powerpoint/2010/main" val="11374486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944200-6A9E-B717-48CE-BDAD22689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Review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549253-7FAC-A224-CD05-4F0289F71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ru-RU" dirty="0"/>
              <a:t>Что проверяют?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b="1" i="1" dirty="0"/>
              <a:t>Логику работы</a:t>
            </a:r>
            <a:r>
              <a:rPr lang="ru-RU" dirty="0"/>
              <a:t> – нет ли ошибок в алгоритме, правильно ли учтены все возможные сценарии.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b="1" i="1" dirty="0"/>
              <a:t>Читаемость</a:t>
            </a:r>
            <a:r>
              <a:rPr lang="ru-RU" dirty="0"/>
              <a:t> – понятны ли названия переменных и функций, легко ли код читать и поддерживать.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b="1" i="1" dirty="0"/>
              <a:t>Соответствие стандартам</a:t>
            </a:r>
            <a:r>
              <a:rPr lang="ru-RU" dirty="0"/>
              <a:t> – соблюдаются ли в команде или компании правила оформления кода, использования библиотек и т.д.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b="1" i="1" dirty="0"/>
              <a:t>Архитектуру и дизайн</a:t>
            </a:r>
            <a:r>
              <a:rPr lang="ru-RU" dirty="0"/>
              <a:t> – насколько решение оправдано, нет ли дублирования кода, не слишком ли сложны алгоритмы.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b="1" i="1" dirty="0"/>
              <a:t>Потенциальные уязвимости</a:t>
            </a:r>
            <a:r>
              <a:rPr lang="ru-RU" dirty="0"/>
              <a:t> – например, проблемы с обработкой пользовательского ввода или использованием сторонних библиотек.</a:t>
            </a:r>
          </a:p>
          <a:p>
            <a:pPr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018567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E2286-D263-C1FC-70BD-6D53843F8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D7F9C4-5F5E-4181-82A6-A0C3F41DA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Review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4FAA9E-494E-EAE4-CB92-F9058BD6C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Цели: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b="1" i="1" dirty="0"/>
              <a:t>Раннее обнаружение ошибок.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b="1" i="1" dirty="0"/>
              <a:t>Улучшение качества и </a:t>
            </a:r>
            <a:r>
              <a:rPr lang="ru-RU" b="1" i="1" dirty="0" err="1"/>
              <a:t>поддерживаемости</a:t>
            </a:r>
            <a:r>
              <a:rPr lang="ru-RU" b="1" i="1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b="1" i="1" dirty="0"/>
              <a:t>Обмен знаниями.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b="1" i="1" dirty="0"/>
              <a:t>Снижение технического долга.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b="1" i="1" dirty="0"/>
              <a:t>Повышение безопасности.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05738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56A3B-9B0D-E252-CB28-02AF2BFEC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E3217B-7DBC-05CE-403A-72B1A7F4C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Review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0D2EC2-1E4A-A838-ACAB-5647AD893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Типичный процесс «</a:t>
            </a:r>
            <a:r>
              <a:rPr lang="en-US" dirty="0"/>
              <a:t>code review</a:t>
            </a:r>
            <a:r>
              <a:rPr lang="ru-RU" dirty="0"/>
              <a:t>»</a:t>
            </a:r>
            <a:r>
              <a:rPr lang="en-US" dirty="0"/>
              <a:t>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b="1" i="1" dirty="0"/>
              <a:t>Подготовка</a:t>
            </a:r>
            <a:r>
              <a:rPr lang="en-US" dirty="0"/>
              <a:t> – </a:t>
            </a:r>
            <a:r>
              <a:rPr lang="ru-RU" dirty="0"/>
              <a:t>автор завершает задачу, запускает автоматические проверки (линтеры, тесты) и создаёт </a:t>
            </a:r>
            <a:r>
              <a:rPr lang="ru-RU" dirty="0" err="1"/>
              <a:t>pull</a:t>
            </a:r>
            <a:r>
              <a:rPr lang="ru-RU" dirty="0"/>
              <a:t> </a:t>
            </a:r>
            <a:r>
              <a:rPr lang="ru-RU" dirty="0" err="1"/>
              <a:t>request</a:t>
            </a:r>
            <a:r>
              <a:rPr lang="ru-RU" dirty="0"/>
              <a:t> (или </a:t>
            </a:r>
            <a:r>
              <a:rPr lang="ru-RU" dirty="0" err="1"/>
              <a:t>merge</a:t>
            </a:r>
            <a:r>
              <a:rPr lang="ru-RU" dirty="0"/>
              <a:t> </a:t>
            </a:r>
            <a:r>
              <a:rPr lang="ru-RU" dirty="0" err="1"/>
              <a:t>request</a:t>
            </a:r>
            <a:r>
              <a:rPr lang="ru-RU" dirty="0"/>
              <a:t>) в системе контроля версий. К нему добавляют описание: что изменилось и почему именно так.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b="1" i="1" dirty="0"/>
              <a:t>Назначение проверяющего</a:t>
            </a:r>
            <a:r>
              <a:rPr lang="ru-RU" dirty="0"/>
              <a:t>. В небольших командах проверяющего часто выбирают вручную — обычно того, кто лучше всего знает затронутую часть кода. В крупных компаниях процесс может быть автоматизирован с учётом загрузки участников.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b="1" i="1" dirty="0"/>
              <a:t>Проверка кода</a:t>
            </a:r>
            <a:r>
              <a:rPr lang="ru-RU" dirty="0"/>
              <a:t>. Проверяющий изучает изменения. Часто он движется «от общего к частному»: сначала пытается понять суть задачи, затем оценивает архитектуру, и только потом смотрит на отдельные функции и алгоритмы.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b="1" i="1" dirty="0"/>
              <a:t>Обратная связь и доработка</a:t>
            </a:r>
            <a:r>
              <a:rPr lang="ru-RU" dirty="0"/>
              <a:t>. Проверяющий оставляет комментарии в интерфейсе системы контроля версий. Автор вносит правки, и при необходимости цикл повторяется.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b="1" i="1" dirty="0"/>
              <a:t>Финальное согласование</a:t>
            </a:r>
            <a:r>
              <a:rPr lang="ru-RU" dirty="0"/>
              <a:t>. После того как все замечания учтены и утверждены, изменения сливаются в основную ветку проекта.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822449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9B1FF8-36E9-19D3-0CF7-CB69C1D71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Для тех кто забыл ООП!!!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9A35D4-070A-EF92-9CBD-144E61520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hlinkClick r:id="rId2"/>
              </a:rPr>
              <a:t>Ссылка для </a:t>
            </a:r>
            <a:r>
              <a:rPr lang="ru-RU">
                <a:hlinkClick r:id="rId2"/>
              </a:rPr>
              <a:t>самостоятельного изучения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5736758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1270</TotalTime>
  <Words>2158</Words>
  <Application>Microsoft Office PowerPoint</Application>
  <PresentationFormat>Широкоэкранный</PresentationFormat>
  <Paragraphs>185</Paragraphs>
  <Slides>38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38</vt:i4>
      </vt:variant>
    </vt:vector>
  </HeadingPairs>
  <TitlesOfParts>
    <vt:vector size="41" baseType="lpstr">
      <vt:lpstr>Arial</vt:lpstr>
      <vt:lpstr>Calibri</vt:lpstr>
      <vt:lpstr>Тема Office</vt:lpstr>
      <vt:lpstr>Введение. Технологии программирования.</vt:lpstr>
      <vt:lpstr>Вспоминаем предыдущий семестр</vt:lpstr>
      <vt:lpstr>Инкапсуляция</vt:lpstr>
      <vt:lpstr>Наследование</vt:lpstr>
      <vt:lpstr>Полиморфизм</vt:lpstr>
      <vt:lpstr>Императивная парадигма</vt:lpstr>
      <vt:lpstr>Декларативная парадигма</vt:lpstr>
      <vt:lpstr>Условная классификация ЯП</vt:lpstr>
      <vt:lpstr>Языки для веб-разработки</vt:lpstr>
      <vt:lpstr>Языки для анализа данных и Data Science</vt:lpstr>
      <vt:lpstr>Языки для мобильной разработки</vt:lpstr>
      <vt:lpstr>Языки для системного программирования и высокой производительности</vt:lpstr>
      <vt:lpstr>Выбор языка</vt:lpstr>
      <vt:lpstr>Виды архитектур ПО</vt:lpstr>
      <vt:lpstr>Монолитная архитектура</vt:lpstr>
      <vt:lpstr>Микросервисная архитектура</vt:lpstr>
      <vt:lpstr>Многослойная (Layered) архитектура</vt:lpstr>
      <vt:lpstr>Событийно-ориентированная архитектура</vt:lpstr>
      <vt:lpstr>Выбор архитектуры ПО</vt:lpstr>
      <vt:lpstr>Средства проектирования архитектуры ПО</vt:lpstr>
      <vt:lpstr>Методы и подходы</vt:lpstr>
      <vt:lpstr>Графические средства визуализации</vt:lpstr>
      <vt:lpstr>Бизнес-задачи и стартапы Различия</vt:lpstr>
      <vt:lpstr>Бизнес-задачи и стартапы Различия</vt:lpstr>
      <vt:lpstr>Бизнес-задачи и стартапы Различия</vt:lpstr>
      <vt:lpstr>Бизнес-задачи и стартапы Различия</vt:lpstr>
      <vt:lpstr>Бизнес-задачи и стартапы Различия</vt:lpstr>
      <vt:lpstr>«Типичный» состав команды разработки ПО</vt:lpstr>
      <vt:lpstr>«Типичный» состав команды разработки ПО</vt:lpstr>
      <vt:lpstr>«Типичный» состав команды разработки ПО</vt:lpstr>
      <vt:lpstr>«Типичный» состав команды разработки ПО</vt:lpstr>
      <vt:lpstr>«Типичный» состав команды разработки ПО</vt:lpstr>
      <vt:lpstr>«Типичный» состав команды разработки ПО</vt:lpstr>
      <vt:lpstr>Code Review</vt:lpstr>
      <vt:lpstr>Code Review</vt:lpstr>
      <vt:lpstr>Code Review</vt:lpstr>
      <vt:lpstr>Code Review</vt:lpstr>
      <vt:lpstr>Для тех кто забыл ООП!!!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Иван Петров</dc:creator>
  <cp:lastModifiedBy>Иван Петров</cp:lastModifiedBy>
  <cp:revision>98</cp:revision>
  <dcterms:created xsi:type="dcterms:W3CDTF">2024-09-02T04:38:38Z</dcterms:created>
  <dcterms:modified xsi:type="dcterms:W3CDTF">2026-08-24T15:19:43Z</dcterms:modified>
</cp:coreProperties>
</file>