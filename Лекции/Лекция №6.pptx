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E15ABA-D19C-48C7-B68B-B009D1281880}">
          <p14:sldIdLst>
            <p14:sldId id="256"/>
            <p14:sldId id="258"/>
            <p14:sldId id="259"/>
            <p14:sldId id="257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782" autoAdjust="0"/>
  </p:normalViewPr>
  <p:slideViewPr>
    <p:cSldViewPr snapToGrid="0">
      <p:cViewPr varScale="1">
        <p:scale>
          <a:sx n="48" d="100"/>
          <a:sy n="48" d="100"/>
        </p:scale>
        <p:origin x="67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7595-FCF4-4099-BD8C-13459FCC7DA5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82645-4708-44BD-8BD9-71C144DEF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5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67B7-8B86-328F-B7EC-B1BF2A576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CDB87-CA93-4BE7-35CF-A0C68EDF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2DA8-8EAF-33A0-3065-C716BF3E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1D051-4978-EF7F-8C8A-3F244BC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9766E-6D6E-8A4C-658A-B4685CE0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2B64-7A03-AC61-9E5C-F4F4D95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FDECA-25F9-183C-D3B7-DD5F7B11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809E4-C3AA-7FFF-66D9-82958219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5A159-D873-5BF8-F8CB-3C05B12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8BDA-8665-8883-9E4D-14AD25E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31642-8603-DDAE-C5AF-BB3C068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5BA09-5383-933C-E291-BDB4B710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69EBF-C0B5-9EB4-DCC1-9E8BACFF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2AC16-93B3-1460-E3C7-65580E1A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152A2-48DC-5799-2499-17FE61B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4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5EDD-FB9F-F045-EE95-10EF9D2F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BC94-00BF-2A5B-BF4D-C38882A64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5A367E-D4A4-00C0-F75B-8C02E2A0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3EE95-E43A-EB58-34A0-A9DDECD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CE8F9-1034-21B2-38EF-2A8B5C4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8E6C-9A75-8F08-58CE-EB938E29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5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429E8-D3A7-B63A-2739-1D5705FF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82CD-AB3F-25A9-B795-21CDC760E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87405F-9984-D933-744C-463E03AB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840FB-509F-F934-5C06-61A5B085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BB4397-1D85-C4FA-132E-1D2C7A393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F2429-F720-BD98-422E-081D31DB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D6B9B-B5DF-8947-4A97-B1959BB9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E5F275-C6C3-C7A7-9B49-AB9241D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78BE3-96E3-542D-B866-54D4D5B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AB0066-C93A-CE44-C9C9-8492509E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86183F-4A06-0A6D-2439-9920BE5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A19C14-09EE-8DA0-35EE-10747B9F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0E34C-DF03-FB68-EAB6-2F9E4120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423B85-5262-79FE-1774-FCA052A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42707-0180-59A5-67BB-1659997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69A8C-27E6-130A-0F34-2A6C962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8BD66-0277-8F15-78C4-39A5EE21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E5280-B2C5-EB27-34F2-3D18F3D08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0CD3B-D516-8EF6-49C8-81E52299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39D0E4-C405-ED24-5E05-503B004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4DDD1-B00C-597F-82F6-F2A8092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39A1-0DED-CE4B-5B62-BD19F0BC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4D6F2-42E9-3FEA-C6A7-740C51D9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8E58D-4DAC-4FC8-5B80-7961711AC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A013B-DD5C-737D-F0AB-7C15724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E4AEB-1CB0-2CFD-BC02-DFD9847A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ABAB9-35CC-F3B8-B086-C857480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7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0FEB8-DA1D-02DC-B5C2-755D525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08DD26-2A62-77FD-1C83-3B3882EA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A89C9-6D79-3B2C-6B15-AEF4507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0559-F67E-CA20-365A-2B0DDA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36514-470B-0377-D0F6-5D31A6DE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55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93FE35-8AF2-DD78-796E-56EC686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660D9-45FD-7890-3D0F-E47BD8B3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E59F6-A2CA-A130-A170-4BCEBFD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39BC6-BAA9-14F7-E5F0-45F92CF9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3F45-277D-2C12-D898-2C9E77A3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F0C5-9240-24BB-AB2C-20ADF63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985C-F8DC-F486-A49E-0B2B6544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F3EF-F30E-6D88-967B-040F961D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9C0F7-D75B-4C5D-8BA2-4B6485705959}" type="datetimeFigureOut">
              <a:rPr lang="ru-RU" smtClean="0"/>
              <a:t>24.08.2026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879BD-3AFC-8225-C352-7D9D01B1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1DDE2-73F3-A77C-24A3-116C7FD4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FAF48-7A20-BDED-6DB6-D8E23EB4BEE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53" y="24422"/>
            <a:ext cx="2322947" cy="20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6D10E-B4D8-B973-A146-B23613FFF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Исключения в языке С++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F7337-EB00-C20F-E6CF-D664DFEC7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046DA-43F1-3D79-0728-B414F979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исключение?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DF198D-2863-B7D0-2968-01EDFE92E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Исключение – механизм, позволяющий программе обработать ситуацию, возникшую в результате какой-либо ошибке.</a:t>
            </a:r>
          </a:p>
          <a:p>
            <a:endParaRPr lang="ru-RU" dirty="0"/>
          </a:p>
          <a:p>
            <a:r>
              <a:rPr lang="ru-RU" dirty="0"/>
              <a:t>Исключения происходят по следующим причинам: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61616"/>
                </a:solidFill>
              </a:rPr>
              <a:t>О</a:t>
            </a:r>
            <a:r>
              <a:rPr lang="ru-RU" b="0" i="0" dirty="0">
                <a:solidFill>
                  <a:srgbClr val="161616"/>
                </a:solidFill>
                <a:effectLst/>
              </a:rPr>
              <a:t>шибки логики. Пример: </a:t>
            </a:r>
            <a:r>
              <a:rPr lang="ru-RU" b="1" i="1" dirty="0">
                <a:solidFill>
                  <a:srgbClr val="161616"/>
                </a:solidFill>
                <a:effectLst/>
              </a:rPr>
              <a:t>выход за пределы массива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Ошибка среды выполнения. </a:t>
            </a:r>
            <a:r>
              <a:rPr lang="ru-RU" dirty="0">
                <a:solidFill>
                  <a:srgbClr val="161616"/>
                </a:solidFill>
              </a:rPr>
              <a:t>Пример: </a:t>
            </a:r>
            <a:r>
              <a:rPr lang="ru-RU" b="1" i="1" dirty="0">
                <a:solidFill>
                  <a:srgbClr val="161616"/>
                </a:solidFill>
              </a:rPr>
              <a:t>сетевая служба недоступна</a:t>
            </a:r>
            <a:endParaRPr lang="ru-RU" b="1" i="1" dirty="0">
              <a:solidFill>
                <a:srgbClr val="161616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193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78693-0EF3-D178-0F84-64A6EEFF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надо использовать исключения?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ECE2E6-6510-26BE-1A58-E4A745318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Исключение заставляет вызывающий код распознавать условие ошибки и обрабатывать его. Необработанные исключения останавливают выполнение программы.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Исключение переходит к точке стека вызовов, которая может обрабатывать ошибку.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Механизм очистки стека исключений уничтожает все объекты в области после создания исключения в соответствии с четко определенными правилами.</a:t>
            </a:r>
          </a:p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Исключение позволяет четко разделить код, который обнаруживает ошибку и код, обрабатывающий ошибку.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9504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F4505-375A-3553-D360-85BEDBEB9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93197D-BBC2-79B7-5E29-A2BAD9B31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Consolas" panose="020B0609020204030204" pitchFamily="49" charset="0"/>
              </a:rPr>
              <a:t>try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	участок кода, в котором возможно исключение</a:t>
            </a:r>
          </a:p>
          <a:p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 err="1">
                <a:latin typeface="Consolas" panose="020B0609020204030204" pitchFamily="49" charset="0"/>
              </a:rPr>
              <a:t>catch</a:t>
            </a:r>
            <a:r>
              <a:rPr lang="ru-RU" dirty="0">
                <a:latin typeface="Consolas" panose="020B0609020204030204" pitchFamily="49" charset="0"/>
              </a:rPr>
              <a:t>(тип исключения)</a:t>
            </a:r>
          </a:p>
          <a:p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    обработка исключения</a:t>
            </a:r>
          </a:p>
          <a:p>
            <a:r>
              <a:rPr lang="ru-RU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3027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D0FB7-B1A6-8438-864F-FC8A14E2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Исключения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E21D88-5F2E-3199-F264-64807CBAF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Исключения в C++ похожи на такие языки, как C# и Java. </a:t>
            </a:r>
          </a:p>
          <a:p>
            <a:r>
              <a:rPr lang="ru-RU" dirty="0"/>
              <a:t>В блоке </a:t>
            </a:r>
            <a:r>
              <a:rPr lang="ru-RU" dirty="0" err="1"/>
              <a:t>try</a:t>
            </a:r>
            <a:r>
              <a:rPr lang="ru-RU" dirty="0"/>
              <a:t>, если исключение создается, он перехватывается первым связанным </a:t>
            </a:r>
            <a:r>
              <a:rPr lang="ru-RU" dirty="0" err="1"/>
              <a:t>catch</a:t>
            </a:r>
            <a:r>
              <a:rPr lang="ru-RU" dirty="0"/>
              <a:t> блоком, тип которого соответствует типу исключения. </a:t>
            </a:r>
          </a:p>
          <a:p>
            <a:r>
              <a:rPr lang="ru-RU" dirty="0"/>
              <a:t>Другими словами, выполнение переходит от инструкции </a:t>
            </a:r>
            <a:r>
              <a:rPr lang="ru-RU" dirty="0" err="1"/>
              <a:t>throw</a:t>
            </a:r>
            <a:r>
              <a:rPr lang="ru-RU" dirty="0"/>
              <a:t> к оператору </a:t>
            </a:r>
            <a:r>
              <a:rPr lang="ru-RU" dirty="0" err="1"/>
              <a:t>catch</a:t>
            </a:r>
            <a:r>
              <a:rPr lang="ru-RU" dirty="0"/>
              <a:t> . </a:t>
            </a:r>
          </a:p>
          <a:p>
            <a:r>
              <a:rPr lang="ru-RU" dirty="0"/>
              <a:t>Если не найден доступный блок перехвата,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terminate</a:t>
            </a:r>
            <a:r>
              <a:rPr lang="ru-RU" dirty="0"/>
              <a:t> вызывается и программа завершает работу. </a:t>
            </a:r>
          </a:p>
          <a:p>
            <a:r>
              <a:rPr lang="ru-RU" dirty="0"/>
              <a:t>В C++ любой тип может быть создан; однако рекомендуется создать тип, производный напрямую или косвенно от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exception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8054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2A001-A0E4-7D2F-FDCA-10471377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Исключения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7798A9-8CDB-C322-F471-2B9F2A0B1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namespace std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class exception</a:t>
            </a:r>
          </a:p>
          <a:p>
            <a:r>
              <a:rPr lang="en-US" dirty="0"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dirty="0">
                <a:latin typeface="Consolas" panose="020B0609020204030204" pitchFamily="49" charset="0"/>
              </a:rPr>
              <a:t>        exception()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    exception(const exception&amp;)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    exception&amp; operator=(const exception&amp;)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      virtual ~exception(); // Destructor</a:t>
            </a:r>
          </a:p>
          <a:p>
            <a:r>
              <a:rPr lang="en-US" dirty="0">
                <a:latin typeface="Consolas" panose="020B0609020204030204" pitchFamily="49" charset="0"/>
              </a:rPr>
              <a:t>        virtual const char* what() const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latin typeface="Consolas" panose="020B0609020204030204" pitchFamily="49" charset="0"/>
              </a:rPr>
              <a:t>	  //</a:t>
            </a:r>
            <a:r>
              <a:rPr lang="ru-RU" dirty="0">
                <a:latin typeface="Consolas" panose="020B0609020204030204" pitchFamily="49" charset="0"/>
              </a:rPr>
              <a:t>возвращает сообщение об исключении</a:t>
            </a:r>
          </a:p>
          <a:p>
            <a:r>
              <a:rPr lang="ru-RU" dirty="0">
                <a:latin typeface="Consolas" panose="020B0609020204030204" pitchFamily="49" charset="0"/>
              </a:rPr>
              <a:t>    };</a:t>
            </a:r>
          </a:p>
          <a:p>
            <a:r>
              <a:rPr lang="ru-RU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867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D9829-1C93-3B1C-90FD-241D7636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исключений С++</a:t>
            </a:r>
          </a:p>
        </p:txBody>
      </p:sp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0847CC73-02AC-30CD-7FD4-98BCC9AE31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165" y="1825625"/>
            <a:ext cx="482167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46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1271B-29BA-7D8E-00AA-3D838D60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исключений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923625-1AA3-53A8-144E-BE7F0E70E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runtime_error</a:t>
            </a:r>
            <a:r>
              <a:rPr lang="ru-RU" sz="2400" dirty="0"/>
              <a:t> – общий тип исключений, которые возникают во время выполнения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range_error</a:t>
            </a:r>
            <a:r>
              <a:rPr lang="ru-RU" sz="2400" dirty="0"/>
              <a:t> – исключение, которое возникает, когда полученный результат превосходит допустимый диапазон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overflow_error</a:t>
            </a:r>
            <a:r>
              <a:rPr lang="ru-RU" sz="2400" dirty="0"/>
              <a:t> – исключение, которое возникает, если полученный результат превышает допустимый диапазон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dirty="0" err="1"/>
              <a:t>underflow_error</a:t>
            </a:r>
            <a:r>
              <a:rPr lang="ru-RU" sz="2400" dirty="0"/>
              <a:t> – исключение, которое возникает, если полученный в вычислениях результат имеет недопустимое отрицательное значение (выход за нижнюю допустимую границу значений)</a:t>
            </a:r>
          </a:p>
        </p:txBody>
      </p:sp>
    </p:spTree>
    <p:extLst>
      <p:ext uri="{BB962C8B-B14F-4D97-AF65-F5344CB8AC3E}">
        <p14:creationId xmlns:p14="http://schemas.microsoft.com/office/powerpoint/2010/main" val="41962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D0D16-B72E-60E8-27AE-0124785C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исключений 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2E9DC0-7CC6-3311-8F38-D61B94A66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logic_error</a:t>
            </a:r>
            <a:r>
              <a:rPr lang="ru-RU" sz="2800" dirty="0"/>
              <a:t> – исключение, которое возникает при наличии логических ошибок к коде программы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domain_error</a:t>
            </a:r>
            <a:r>
              <a:rPr lang="ru-RU" sz="2800" dirty="0"/>
              <a:t> – исключение, которое возникает, если для некоторого значения, передаваемого в функцию, не определен результат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invalid_argument</a:t>
            </a:r>
            <a:r>
              <a:rPr lang="ru-RU" sz="2800" dirty="0"/>
              <a:t> – исключение, которое возникает при передаче в функцию некорректного аргумента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length_error</a:t>
            </a:r>
            <a:r>
              <a:rPr lang="ru-RU" sz="2800" dirty="0"/>
              <a:t> – исключение, которое возникает при попытке создать объект большего размера, чем допустим для данного типа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800" dirty="0" err="1"/>
              <a:t>out_of_range</a:t>
            </a:r>
            <a:r>
              <a:rPr lang="ru-RU" sz="2800" dirty="0"/>
              <a:t> – исключение, которое возникает при попытке доступа к элементам вне допустимого диапазона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274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5CEC8-927A-4473-37EC-11A851E8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9E7DF-C390-5194-78B5-0A3F1C67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class Person {</a:t>
            </a:r>
          </a:p>
          <a:p>
            <a:r>
              <a:rPr lang="en-US" dirty="0"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latin typeface="Consolas" panose="020B0609020204030204" pitchFamily="49" charset="0"/>
              </a:rPr>
              <a:t>    Person(std::string name, unsigned age)</a:t>
            </a:r>
          </a:p>
          <a:p>
            <a:r>
              <a:rPr lang="en-US" dirty="0"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if(</a:t>
            </a:r>
            <a:r>
              <a:rPr lang="en-US" dirty="0" err="1">
                <a:latin typeface="Consolas" panose="020B0609020204030204" pitchFamily="49" charset="0"/>
              </a:rPr>
              <a:t>name.length</a:t>
            </a:r>
            <a:r>
              <a:rPr lang="en-US" dirty="0">
                <a:latin typeface="Consolas" panose="020B0609020204030204" pitchFamily="49" charset="0"/>
              </a:rPr>
              <a:t>() &gt; 11)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throw std::</a:t>
            </a:r>
            <a:r>
              <a:rPr lang="en-US" dirty="0" err="1">
                <a:latin typeface="Consolas" panose="020B0609020204030204" pitchFamily="49" charset="0"/>
              </a:rPr>
              <a:t>length_error</a:t>
            </a:r>
            <a:r>
              <a:rPr lang="en-US" dirty="0">
                <a:latin typeface="Consolas" panose="020B0609020204030204" pitchFamily="49" charset="0"/>
              </a:rPr>
              <a:t>("Name must be less than 10 chars");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if(!age || age &gt; 110)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throw std::</a:t>
            </a:r>
            <a:r>
              <a:rPr lang="en-US" dirty="0" err="1">
                <a:latin typeface="Consolas" panose="020B0609020204030204" pitchFamily="49" charset="0"/>
              </a:rPr>
              <a:t>range_error</a:t>
            </a:r>
            <a:r>
              <a:rPr lang="en-US" dirty="0">
                <a:latin typeface="Consolas" panose="020B0609020204030204" pitchFamily="49" charset="0"/>
              </a:rPr>
              <a:t>("Age must be between 1 and 110");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this-&gt;name = name; this-&gt;age = age;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dirty="0">
                <a:latin typeface="Consolas" panose="020B0609020204030204" pitchFamily="49" charset="0"/>
              </a:rPr>
              <a:t>    std::string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unsigned age;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01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126AE85-DCC3-2472-B826-7F889C64B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62642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void </a:t>
            </a:r>
            <a:r>
              <a:rPr lang="en-US" dirty="0" err="1"/>
              <a:t>testPerson</a:t>
            </a:r>
            <a:r>
              <a:rPr lang="en-US" dirty="0"/>
              <a:t>(std::string name, unsigned age)</a:t>
            </a:r>
            <a:r>
              <a:rPr lang="ru-RU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    try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Person person{name, age};  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catch (const std::</a:t>
            </a:r>
            <a:r>
              <a:rPr lang="en-US" dirty="0" err="1"/>
              <a:t>length_error</a:t>
            </a:r>
            <a:r>
              <a:rPr lang="en-US" dirty="0"/>
              <a:t>&amp; ex)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</a:t>
            </a:r>
            <a:r>
              <a:rPr lang="en-US" dirty="0" err="1"/>
              <a:t>Length_error</a:t>
            </a:r>
            <a:r>
              <a:rPr lang="en-US" dirty="0"/>
              <a:t>: " &lt;&lt; </a:t>
            </a:r>
            <a:r>
              <a:rPr lang="en-US" dirty="0" err="1"/>
              <a:t>ex.what</a:t>
            </a:r>
            <a:r>
              <a:rPr lang="en-US" dirty="0"/>
              <a:t>()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catch (const std::</a:t>
            </a:r>
            <a:r>
              <a:rPr lang="en-US" dirty="0" err="1"/>
              <a:t>range_error</a:t>
            </a:r>
            <a:r>
              <a:rPr lang="en-US" dirty="0"/>
              <a:t>&amp; ex)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</a:t>
            </a:r>
            <a:r>
              <a:rPr lang="en-US" dirty="0" err="1"/>
              <a:t>Range_error</a:t>
            </a:r>
            <a:r>
              <a:rPr lang="en-US" dirty="0"/>
              <a:t>: " &lt;&lt; </a:t>
            </a:r>
            <a:r>
              <a:rPr lang="en-US" dirty="0" err="1"/>
              <a:t>ex.what</a:t>
            </a:r>
            <a:r>
              <a:rPr lang="en-US" dirty="0"/>
              <a:t>()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catch (const std::exception&amp;)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std::</a:t>
            </a:r>
            <a:r>
              <a:rPr lang="en-US" dirty="0" err="1"/>
              <a:t>cout</a:t>
            </a:r>
            <a:r>
              <a:rPr lang="en-US" dirty="0"/>
              <a:t> &lt;&lt; "Something wrong"&lt;&lt;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804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D387E-7433-D021-73FC-D8C66B3B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3176864-410A-9D58-EE72-F300B93F6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1"/>
            <a:ext cx="10515600" cy="4451684"/>
          </a:xfrm>
        </p:spPr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testPerson</a:t>
            </a:r>
            <a:r>
              <a:rPr lang="en-US" dirty="0">
                <a:latin typeface="Consolas" panose="020B0609020204030204" pitchFamily="49" charset="0"/>
              </a:rPr>
              <a:t>("Tom", 38);</a:t>
            </a:r>
          </a:p>
          <a:p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testPerson</a:t>
            </a:r>
            <a:r>
              <a:rPr lang="en-US" dirty="0">
                <a:latin typeface="Consolas" panose="020B0609020204030204" pitchFamily="49" charset="0"/>
              </a:rPr>
              <a:t>("Gai </a:t>
            </a:r>
            <a:r>
              <a:rPr lang="en-US" dirty="0" err="1">
                <a:latin typeface="Consolas" panose="020B0609020204030204" pitchFamily="49" charset="0"/>
              </a:rPr>
              <a:t>Yulii</a:t>
            </a:r>
            <a:r>
              <a:rPr lang="en-US" dirty="0">
                <a:latin typeface="Consolas" panose="020B0609020204030204" pitchFamily="49" charset="0"/>
              </a:rPr>
              <a:t> Cezar", 42);  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testPerson</a:t>
            </a:r>
            <a:r>
              <a:rPr lang="en-US" dirty="0">
                <a:latin typeface="Consolas" panose="020B0609020204030204" pitchFamily="49" charset="0"/>
              </a:rPr>
              <a:t>("Sam", 250);  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850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6A89B-8F9B-03D1-1F55-69A411F0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Собственные типы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9F9C7D-4BF7-D0A7-3ACA-35197E39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class </a:t>
            </a:r>
            <a:r>
              <a:rPr lang="en-US" sz="2400" dirty="0" err="1">
                <a:latin typeface="Consolas" panose="020B0609020204030204" pitchFamily="49" charset="0"/>
              </a:rPr>
              <a:t>AgeException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public: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AgeException</a:t>
            </a:r>
            <a:r>
              <a:rPr lang="en-US" sz="2400" dirty="0">
                <a:latin typeface="Consolas" panose="020B0609020204030204" pitchFamily="49" charset="0"/>
              </a:rPr>
              <a:t>(std::string message): message{message}{}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std::string </a:t>
            </a:r>
            <a:r>
              <a:rPr lang="en-US" sz="2400" dirty="0" err="1">
                <a:latin typeface="Consolas" panose="020B0609020204030204" pitchFamily="49" charset="0"/>
              </a:rPr>
              <a:t>getMessage</a:t>
            </a:r>
            <a:r>
              <a:rPr lang="en-US" sz="2400" dirty="0">
                <a:latin typeface="Consolas" panose="020B0609020204030204" pitchFamily="49" charset="0"/>
              </a:rPr>
              <a:t>() const {return message;}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std::string message;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};</a:t>
            </a:r>
            <a:endParaRPr lang="ru-RU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3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72956CB-9D8B-9435-A84A-E955E3C4F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853"/>
            <a:ext cx="10515600" cy="63966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class Person {</a:t>
            </a:r>
          </a:p>
          <a:p>
            <a:r>
              <a:rPr lang="en-US" dirty="0"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latin typeface="Consolas" panose="020B0609020204030204" pitchFamily="49" charset="0"/>
              </a:rPr>
              <a:t>    Person(std::string name, unsigned age)</a:t>
            </a:r>
          </a:p>
          <a:p>
            <a:r>
              <a:rPr lang="en-US" dirty="0"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if(!age||age&gt;110)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        {</a:t>
            </a:r>
          </a:p>
          <a:p>
            <a:r>
              <a:rPr lang="ru-RU" dirty="0">
                <a:latin typeface="Consolas" panose="020B0609020204030204" pitchFamily="49" charset="0"/>
              </a:rPr>
              <a:t>            </a:t>
            </a:r>
            <a:r>
              <a:rPr lang="en-US" dirty="0">
                <a:latin typeface="Consolas" panose="020B0609020204030204" pitchFamily="49" charset="0"/>
              </a:rPr>
              <a:t>throw </a:t>
            </a:r>
            <a:r>
              <a:rPr lang="en-US" dirty="0" err="1">
                <a:latin typeface="Consolas" panose="020B0609020204030204" pitchFamily="49" charset="0"/>
              </a:rPr>
              <a:t>AgeException</a:t>
            </a:r>
            <a:r>
              <a:rPr lang="en-US" dirty="0">
                <a:latin typeface="Consolas" panose="020B0609020204030204" pitchFamily="49" charset="0"/>
              </a:rPr>
              <a:t>{"Invalid age"};</a:t>
            </a:r>
          </a:p>
          <a:p>
            <a:r>
              <a:rPr lang="en-US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dirty="0">
                <a:latin typeface="Consolas" panose="020B0609020204030204" pitchFamily="49" charset="0"/>
              </a:rPr>
              <a:t>        this-&gt;name =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    this-&gt;age = age;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dirty="0">
                <a:latin typeface="Consolas" panose="020B0609020204030204" pitchFamily="49" charset="0"/>
              </a:rPr>
              <a:t>    std::string name;</a:t>
            </a:r>
          </a:p>
          <a:p>
            <a:r>
              <a:rPr lang="en-US" dirty="0">
                <a:latin typeface="Consolas" panose="020B0609020204030204" pitchFamily="49" charset="0"/>
              </a:rPr>
              <a:t>    unsigned age;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058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4C82A-8468-6C6F-7A2C-05D96E4A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плохого в предыдущем примере?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6EB227-533B-8691-3250-E23DF6EB8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1167"/>
            <a:ext cx="10515600" cy="3990307"/>
          </a:xfrm>
        </p:spPr>
        <p:txBody>
          <a:bodyPr>
            <a:normAutofit/>
          </a:bodyPr>
          <a:lstStyle/>
          <a:p>
            <a:pPr algn="ctr"/>
            <a:r>
              <a:rPr lang="ru-RU" sz="8800" dirty="0"/>
              <a:t>ЖДУ ВАШИХ КОММЕНТАРИЕВ!</a:t>
            </a:r>
          </a:p>
        </p:txBody>
      </p:sp>
    </p:spTree>
    <p:extLst>
      <p:ext uri="{BB962C8B-B14F-4D97-AF65-F5344CB8AC3E}">
        <p14:creationId xmlns:p14="http://schemas.microsoft.com/office/powerpoint/2010/main" val="2795903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FCC999-4D6F-8C08-0C76-146499DC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по работе с исключениями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C864D-2D6E-1769-5395-A7DB8AE58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Используйте утверждения для проверки условий, которые всегда должны быть верными или всегда быть ложными</a:t>
            </a:r>
            <a:r>
              <a:rPr lang="en-US" b="0" i="0" dirty="0">
                <a:solidFill>
                  <a:srgbClr val="161616"/>
                </a:solidFill>
                <a:effectLst/>
              </a:rPr>
              <a:t> – </a:t>
            </a:r>
            <a:r>
              <a:rPr lang="ru-RU" b="1" dirty="0">
                <a:solidFill>
                  <a:srgbClr val="161616"/>
                </a:solidFill>
              </a:rPr>
              <a:t>Если есть возможность избежать исключения, то его нужно избегать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61616"/>
                </a:solidFill>
                <a:effectLst/>
              </a:rPr>
              <a:t>Используйте исключения, если код, обрабатывающий ошибку, отделен от кода, который обнаруживает ошибку одним или несколькими промежуточными вызовами функций.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5399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89774-8B3C-22E7-2F3E-529B91A0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при обработке исключений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737AE9-7B8B-0FBE-ECAB-4CD3C995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0" i="0" dirty="0">
                <a:solidFill>
                  <a:srgbClr val="161616"/>
                </a:solidFill>
                <a:effectLst/>
              </a:rPr>
              <a:t>Механизм исключения имеет минимальные затраты на производительность, если исключение не возникает. Если исключение возникает, стоимость обхода стека и очистки примерно сравнима с стоимостью вызова функции.</a:t>
            </a:r>
            <a:endParaRPr lang="en-US" b="0" i="0" dirty="0">
              <a:solidFill>
                <a:srgbClr val="161616"/>
              </a:solidFill>
              <a:effectLst/>
            </a:endParaRPr>
          </a:p>
          <a:p>
            <a:pPr algn="just"/>
            <a:endParaRPr lang="en-US" dirty="0">
              <a:solidFill>
                <a:srgbClr val="161616"/>
              </a:solidFill>
            </a:endParaRPr>
          </a:p>
          <a:p>
            <a:pPr algn="just"/>
            <a:r>
              <a:rPr lang="ru-RU" i="0" dirty="0">
                <a:solidFill>
                  <a:srgbClr val="161616"/>
                </a:solidFill>
                <a:effectLst/>
              </a:rPr>
              <a:t>Однако в большинстве случаев затраты на производительность и объем памяти не являются значительными. Негативное влияние исключений на производительность, скорее всего, будет значительным только в системах с ограниченными памятью.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1065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B091C-2D13-702B-E438-25912960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06E5F1-1DB8-A243-D025-89AE5331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i="0" dirty="0">
                <a:solidFill>
                  <a:srgbClr val="333333"/>
                </a:solidFill>
                <a:effectLst/>
              </a:rPr>
              <a:t>Логирование в программировании — это процесс записи логов, то есть текстовых файлов с информацией о действиях программного обеспечения или пользователей, которые хранятся на компьютере или сервере.</a:t>
            </a:r>
            <a:endParaRPr lang="en-US" i="0" dirty="0">
              <a:solidFill>
                <a:srgbClr val="333333"/>
              </a:solidFill>
              <a:effectLst/>
            </a:endParaRPr>
          </a:p>
          <a:p>
            <a:pPr algn="just"/>
            <a:endParaRPr lang="en-US" dirty="0">
              <a:solidFill>
                <a:srgbClr val="333333"/>
              </a:solidFill>
            </a:endParaRPr>
          </a:p>
          <a:p>
            <a:pPr algn="just"/>
            <a:r>
              <a:rPr lang="ru-RU" i="0" dirty="0">
                <a:solidFill>
                  <a:srgbClr val="333333"/>
                </a:solidFill>
                <a:effectLst/>
              </a:rPr>
              <a:t>Для логирования используют логгер — специальный модуль, библиотеку или отдельную программу, которая реагирует на события в программе и записывает всё, что там происходит.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8797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F3FE9-312F-B28A-56FD-D996D9B2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E7C056-67B9-BFBC-0E65-EF3FF0C32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Анализ логов помогает обнаружить источники многих проблем, выявить конфликты в конфигурационных файлах, отследить события, связанные с информационной безопасностью. Также благодаря логам найденные ошибки можно быстро исправить.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4312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D439D-AF49-44B3-59E0-843B9CDF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Логирование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9DED977-4D4D-A841-5CA3-AC9546CCBF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068512"/>
            <a:ext cx="8096250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702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483BD-8A67-8713-52E2-A8A45C09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Логирование</a:t>
            </a:r>
            <a:br>
              <a:rPr lang="ru-RU" dirty="0"/>
            </a:br>
            <a:r>
              <a:rPr lang="ru-RU" dirty="0"/>
              <a:t>Механизмы записи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15A0DB-0AA7-81A5-F220-92D0172A0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4800" dirty="0"/>
              <a:t>Запись логов в текстовый файл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4800" dirty="0"/>
              <a:t>Запись логов в текстовый файл в сложной ступенчатой иерархии со сложной структурой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4800" dirty="0"/>
              <a:t>Запись логов в бинарный формат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4800" dirty="0"/>
              <a:t>Запись логов в СУБД</a:t>
            </a:r>
          </a:p>
        </p:txBody>
      </p:sp>
    </p:spTree>
    <p:extLst>
      <p:ext uri="{BB962C8B-B14F-4D97-AF65-F5344CB8AC3E}">
        <p14:creationId xmlns:p14="http://schemas.microsoft.com/office/powerpoint/2010/main" val="3217183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B6D7C-6BC9-8BEC-BA77-6A2E41F7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Логирование</a:t>
            </a:r>
            <a:br>
              <a:rPr lang="ru-RU" sz="3600" dirty="0"/>
            </a:br>
            <a:r>
              <a:rPr lang="ru-RU" sz="3600" dirty="0"/>
              <a:t>Простейший пример формата записи в журнале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C4158F-904C-E39D-185E-95B4792E0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latin typeface="Consolas" panose="020B0609020204030204" pitchFamily="49" charset="0"/>
              </a:rPr>
              <a:t>[system info] + [message] + [context]</a:t>
            </a:r>
            <a:endParaRPr lang="ru-R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info</a:t>
            </a:r>
            <a:r>
              <a:rPr lang="en-HK" dirty="0"/>
              <a:t> –</a:t>
            </a:r>
            <a:r>
              <a:rPr lang="ru-RU" dirty="0"/>
              <a:t> метка времени, </a:t>
            </a:r>
            <a:r>
              <a:rPr lang="en-HK" dirty="0"/>
              <a:t>id</a:t>
            </a:r>
            <a:r>
              <a:rPr lang="ru-RU" dirty="0"/>
              <a:t> процесса, </a:t>
            </a:r>
            <a:r>
              <a:rPr lang="en-HK" dirty="0"/>
              <a:t>id</a:t>
            </a:r>
            <a:r>
              <a:rPr lang="ru-RU" dirty="0"/>
              <a:t> потока и другая служебная информация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message</a:t>
            </a:r>
            <a:r>
              <a:rPr lang="en-HK" dirty="0"/>
              <a:t> –</a:t>
            </a:r>
            <a:r>
              <a:rPr lang="ru-RU" dirty="0"/>
              <a:t> текст сообщения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 err="1"/>
              <a:t>context</a:t>
            </a:r>
            <a:r>
              <a:rPr lang="en-HK" dirty="0"/>
              <a:t> –</a:t>
            </a:r>
            <a:r>
              <a:rPr lang="ru-RU" dirty="0"/>
              <a:t> любая дополнительная информация, контекст может быть общим для сообщений в рамках какой</a:t>
            </a:r>
            <a:r>
              <a:rPr lang="en-HK" dirty="0"/>
              <a:t>-</a:t>
            </a:r>
            <a:r>
              <a:rPr lang="ru-RU" dirty="0"/>
              <a:t>то 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2326029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68B39-16FD-79FA-9952-0785ACA4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Logger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4CBAF1-5FD8-4306-021B-206996ECF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LogLevel</a:t>
            </a:r>
            <a:r>
              <a:rPr lang="en-US" dirty="0">
                <a:latin typeface="Consolas" panose="020B0609020204030204" pitchFamily="49" charset="0"/>
              </a:rPr>
              <a:t> { DEBUG, INFO, WARNING, ERROR, CRITICAL };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class Logger {</a:t>
            </a:r>
          </a:p>
          <a:p>
            <a:r>
              <a:rPr lang="en-US" dirty="0"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latin typeface="Consolas" panose="020B0609020204030204" pitchFamily="49" charset="0"/>
              </a:rPr>
              <a:t>    Logger(const string&amp; filename);</a:t>
            </a:r>
          </a:p>
          <a:p>
            <a:r>
              <a:rPr lang="en-US" dirty="0">
                <a:latin typeface="Consolas" panose="020B0609020204030204" pitchFamily="49" charset="0"/>
              </a:rPr>
              <a:t>    ~Logger();</a:t>
            </a:r>
          </a:p>
          <a:p>
            <a:r>
              <a:rPr lang="en-US" dirty="0">
                <a:latin typeface="Consolas" panose="020B0609020204030204" pitchFamily="49" charset="0"/>
              </a:rPr>
              <a:t>    void log(</a:t>
            </a:r>
            <a:r>
              <a:rPr lang="en-US" dirty="0" err="1">
                <a:latin typeface="Consolas" panose="020B0609020204030204" pitchFamily="49" charset="0"/>
              </a:rPr>
              <a:t>LogLevel</a:t>
            </a:r>
            <a:r>
              <a:rPr lang="en-US" dirty="0">
                <a:latin typeface="Consolas" panose="020B0609020204030204" pitchFamily="49" charset="0"/>
              </a:rPr>
              <a:t> level, const string&amp; message);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dirty="0">
                <a:latin typeface="Consolas" panose="020B0609020204030204" pitchFamily="49" charset="0"/>
              </a:rPr>
              <a:t>    string </a:t>
            </a:r>
            <a:r>
              <a:rPr lang="en-US" dirty="0" err="1">
                <a:latin typeface="Consolas" panose="020B0609020204030204" pitchFamily="49" charset="0"/>
              </a:rPr>
              <a:t>levelToString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LogLevel</a:t>
            </a:r>
            <a:r>
              <a:rPr lang="en-US" dirty="0">
                <a:latin typeface="Consolas" panose="020B0609020204030204" pitchFamily="49" charset="0"/>
              </a:rPr>
              <a:t> level);</a:t>
            </a:r>
          </a:p>
          <a:p>
            <a:r>
              <a:rPr lang="en-US" dirty="0">
                <a:latin typeface="Consolas" panose="020B0609020204030204" pitchFamily="49" charset="0"/>
              </a:rPr>
              <a:t>};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998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9335</TotalTime>
  <Words>1180</Words>
  <Application>Microsoft Office PowerPoint</Application>
  <PresentationFormat>Широкоэкранный</PresentationFormat>
  <Paragraphs>152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YS Text</vt:lpstr>
      <vt:lpstr>Тема Office</vt:lpstr>
      <vt:lpstr>Исключения в языке С++</vt:lpstr>
      <vt:lpstr>Что такое исключение?</vt:lpstr>
      <vt:lpstr>Почему надо использовать исключения?</vt:lpstr>
      <vt:lpstr>Обработка исключений</vt:lpstr>
      <vt:lpstr>Исключения С++</vt:lpstr>
      <vt:lpstr>Исключения С++</vt:lpstr>
      <vt:lpstr>Типы исключений С++</vt:lpstr>
      <vt:lpstr>Типы исключений С++</vt:lpstr>
      <vt:lpstr>Типы исключений С++</vt:lpstr>
      <vt:lpstr>Пример</vt:lpstr>
      <vt:lpstr>Презентация PowerPoint</vt:lpstr>
      <vt:lpstr>Презентация PowerPoint</vt:lpstr>
      <vt:lpstr>Собственные типы исключений</vt:lpstr>
      <vt:lpstr>Презентация PowerPoint</vt:lpstr>
      <vt:lpstr>Что плохого в предыдущем примере?</vt:lpstr>
      <vt:lpstr>Рекомендации по работе с исключениями</vt:lpstr>
      <vt:lpstr>Производительность при обработке исключений</vt:lpstr>
      <vt:lpstr>Логирование</vt:lpstr>
      <vt:lpstr>Логирование</vt:lpstr>
      <vt:lpstr>Логирование</vt:lpstr>
      <vt:lpstr>Логирование Механизмы записи</vt:lpstr>
      <vt:lpstr>Логирование Простейший пример формата записи в журнале</vt:lpstr>
      <vt:lpstr>Класс Logger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Технологии программирования</dc:title>
  <dc:creator>Иван Петров</dc:creator>
  <cp:lastModifiedBy>Иван Петров</cp:lastModifiedBy>
  <cp:revision>142</cp:revision>
  <dcterms:created xsi:type="dcterms:W3CDTF">2024-09-02T04:38:38Z</dcterms:created>
  <dcterms:modified xsi:type="dcterms:W3CDTF">2026-08-24T15:23:18Z</dcterms:modified>
</cp:coreProperties>
</file>